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6"/>
  </p:notesMasterIdLst>
  <p:handoutMasterIdLst>
    <p:handoutMasterId r:id="rId7"/>
  </p:handoutMasterIdLst>
  <p:sldIdLst>
    <p:sldId id="317" r:id="rId2"/>
    <p:sldId id="322" r:id="rId3"/>
    <p:sldId id="327" r:id="rId4"/>
    <p:sldId id="328" r:id="rId5"/>
  </p:sldIdLst>
  <p:sldSz cx="9144000" cy="6858000" type="screen4x3"/>
  <p:notesSz cx="7315200" cy="9601200"/>
  <p:custDataLst>
    <p:tags r:id="rId8"/>
  </p:custDataLst>
  <p:defaultTextStyle>
    <a:defPPr>
      <a:defRPr lang="en-US"/>
    </a:defPPr>
    <a:lvl1pPr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A50021"/>
    <a:srgbClr val="0000CC"/>
    <a:srgbClr val="006600"/>
    <a:srgbClr val="FF0000"/>
    <a:srgbClr val="6699FF"/>
    <a:srgbClr val="000066"/>
    <a:srgbClr val="FF3300"/>
    <a:srgbClr val="0033CC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4" autoAdjust="0"/>
    <p:restoredTop sz="94807" autoAdjust="0"/>
  </p:normalViewPr>
  <p:slideViewPr>
    <p:cSldViewPr snapToObjects="1">
      <p:cViewPr>
        <p:scale>
          <a:sx n="101" d="100"/>
          <a:sy n="101" d="100"/>
        </p:scale>
        <p:origin x="2520" y="6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5F767509-F31D-4257-8110-ED0F5B2FC2BD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83783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6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</a:p>
        </p:txBody>
      </p:sp>
      <p:sp>
        <p:nvSpPr>
          <p:cNvPr id="166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66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1ADD2597-761D-4D78-923C-A67F4CCC4C3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428958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953977"/>
            <a:ext cx="7772400" cy="835063"/>
          </a:xfrm>
        </p:spPr>
        <p:txBody>
          <a:bodyPr>
            <a:normAutofit/>
          </a:bodyPr>
          <a:lstStyle>
            <a:lvl1pPr algn="ctr">
              <a:defRPr sz="5400" spc="-150">
                <a:solidFill>
                  <a:srgbClr val="006600"/>
                </a:solidFill>
                <a:latin typeface="이화체" pitchFamily="2" charset="-127"/>
                <a:ea typeface="이화체" pitchFamily="2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41479" y="393305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이화체" pitchFamily="2" charset="-127"/>
                <a:ea typeface="이화체" pitchFamily="2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</a:t>
            </a:r>
            <a:r>
              <a:rPr lang="ko-KR" altLang="en-US" dirty="0" smtClean="0"/>
              <a:t>부제목 스타일 편집</a:t>
            </a:r>
            <a:endParaRPr lang="ko-KR" alt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32656"/>
            <a:ext cx="9144000" cy="23574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52536" y="2711646"/>
            <a:ext cx="31750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7221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60539" y="20822"/>
            <a:ext cx="846772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en-US" dirty="0" smtClean="0"/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 bwMode="auto">
          <a:xfrm>
            <a:off x="336550" y="836613"/>
            <a:ext cx="8445500" cy="514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altLang="en-US" noProof="0" dirty="0" smtClean="0"/>
              <a:t>Click to edit Master text styles</a:t>
            </a:r>
          </a:p>
          <a:p>
            <a:pPr lvl="1"/>
            <a:r>
              <a:rPr lang="en-US" altLang="en-US" noProof="0" dirty="0" smtClean="0"/>
              <a:t>Second level</a:t>
            </a:r>
            <a:endParaRPr lang="en-US" altLang="ko-KR" noProof="0" dirty="0" smtClean="0"/>
          </a:p>
          <a:p>
            <a:pPr lvl="2"/>
            <a:r>
              <a:rPr lang="en-US" altLang="ko-KR" noProof="0" dirty="0" smtClean="0"/>
              <a:t>Third Level</a:t>
            </a:r>
          </a:p>
          <a:p>
            <a:pPr lvl="3"/>
            <a:r>
              <a:rPr lang="en-US" altLang="ko-KR" noProof="0" dirty="0" smtClean="0"/>
              <a:t>Fourth Level</a:t>
            </a:r>
          </a:p>
          <a:p>
            <a:pPr lvl="2"/>
            <a:endParaRPr lang="en-US" altLang="en-US" noProof="0" dirty="0" smtClean="0"/>
          </a:p>
          <a:p>
            <a:pPr lvl="2"/>
            <a:endParaRPr lang="en-US" altLang="en-US" noProof="0" dirty="0" smtClean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7767"/>
            <a:ext cx="9144000" cy="76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8488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6093296"/>
            <a:ext cx="9180512" cy="759906"/>
          </a:xfrm>
          <a:prstGeom prst="rect">
            <a:avLst/>
          </a:prstGeom>
          <a:noFill/>
          <a:ln>
            <a:noFill/>
          </a:ln>
          <a:effectLst>
            <a:glow>
              <a:schemeClr val="accent1">
                <a:alpha val="80000"/>
              </a:schemeClr>
            </a:glow>
            <a:outerShdw dist="35921" dir="2700000" algn="ctr" rotWithShape="0">
              <a:schemeClr val="bg2"/>
            </a:outerShdw>
            <a:softEdge rad="38100"/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6407" y="21358"/>
            <a:ext cx="846772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title style</a:t>
            </a: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6550" y="836613"/>
            <a:ext cx="8445500" cy="525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text styles</a:t>
            </a:r>
          </a:p>
          <a:p>
            <a:pPr lvl="1"/>
            <a:r>
              <a:rPr lang="en-US" altLang="en-US" dirty="0" smtClean="0"/>
              <a:t>Second level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2"/>
            <a:endParaRPr lang="en-US" altLang="en-US" dirty="0" smtClean="0"/>
          </a:p>
          <a:p>
            <a:pPr lvl="2"/>
            <a:endParaRPr lang="en-US" altLang="en-US" dirty="0" smtClean="0"/>
          </a:p>
        </p:txBody>
      </p:sp>
      <p:sp>
        <p:nvSpPr>
          <p:cNvPr id="1031" name="Text Box 18"/>
          <p:cNvSpPr txBox="1">
            <a:spLocks noChangeArrowheads="1"/>
          </p:cNvSpPr>
          <p:nvPr userDrawn="1"/>
        </p:nvSpPr>
        <p:spPr bwMode="auto">
          <a:xfrm>
            <a:off x="2771800" y="6259378"/>
            <a:ext cx="601025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ko-KR" sz="1200" b="1" dirty="0" smtClean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Communications Lab.</a:t>
            </a:r>
            <a:r>
              <a:rPr lang="en-US" altLang="ko-KR" sz="1200" b="1" baseline="0" dirty="0" smtClean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(Fall 2017)</a:t>
            </a:r>
          </a:p>
          <a:p>
            <a:pPr algn="r" eaLnBrk="1" hangingPunct="1">
              <a:spcBef>
                <a:spcPct val="50000"/>
              </a:spcBef>
              <a:defRPr/>
            </a:pPr>
            <a:r>
              <a:rPr lang="en-US" altLang="ko-KR" sz="1200" b="1" baseline="0" dirty="0" smtClean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Department of Electronic and Electrical Engineering, </a:t>
            </a:r>
            <a:r>
              <a:rPr lang="en-US" altLang="ko-KR" sz="1200" b="1" baseline="0" dirty="0" err="1" smtClean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Ewha</a:t>
            </a:r>
            <a:r>
              <a:rPr lang="en-US" altLang="ko-KR" sz="1200" b="1" baseline="0" dirty="0" smtClean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</a:t>
            </a:r>
            <a:r>
              <a:rPr lang="en-US" altLang="ko-KR" sz="1200" b="1" baseline="0" dirty="0" err="1" smtClean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Womans</a:t>
            </a:r>
            <a:r>
              <a:rPr lang="en-US" altLang="ko-KR" sz="1200" b="1" baseline="0" dirty="0" smtClean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University</a:t>
            </a:r>
            <a:endParaRPr lang="en-US" altLang="ko-KR" sz="1200" b="1" dirty="0" smtClean="0">
              <a:solidFill>
                <a:schemeClr val="bg1"/>
              </a:solidFill>
              <a:latin typeface="이화체" pitchFamily="2" charset="-127"/>
              <a:ea typeface="이화체" pitchFamily="2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3" r:id="rId2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SzPct val="70000"/>
        <a:buFont typeface="Wingdings" pitchFamily="2" charset="2"/>
        <a:buChar char="l"/>
        <a:defRPr sz="16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728" y="3068960"/>
            <a:ext cx="7772400" cy="650777"/>
          </a:xfrm>
        </p:spPr>
        <p:txBody>
          <a:bodyPr anchor="ctr" anchorCtr="0">
            <a:noAutofit/>
          </a:bodyPr>
          <a:lstStyle/>
          <a:p>
            <a:pPr>
              <a:defRPr/>
            </a:pPr>
            <a:r>
              <a:rPr lang="en-US" altLang="ko-KR" sz="2800" dirty="0" smtClean="0">
                <a:ea typeface="굴림" pitchFamily="50" charset="-127"/>
              </a:rPr>
              <a:t>Amplitude Modulation</a:t>
            </a:r>
            <a:endParaRPr lang="ko-KR" altLang="en-US" sz="28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36688" y="4077072"/>
            <a:ext cx="6400800" cy="1391866"/>
          </a:xfrm>
        </p:spPr>
        <p:txBody>
          <a:bodyPr/>
          <a:lstStyle/>
          <a:p>
            <a:pPr>
              <a:defRPr/>
            </a:pPr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1475043</a:t>
            </a:r>
            <a:endParaRPr lang="en-US" altLang="ko-KR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defRPr/>
            </a:pPr>
            <a:r>
              <a:rPr lang="ko-KR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이효림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defRPr/>
            </a:pPr>
            <a:r>
              <a:rPr lang="en-US" altLang="ko-KR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hyoruim@gmail.com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27424" y="5373216"/>
            <a:ext cx="54193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Department of Electronic </a:t>
            </a:r>
            <a:r>
              <a:rPr lang="en-US" altLang="ko-KR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and Electrical </a:t>
            </a:r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Engineering</a:t>
            </a:r>
          </a:p>
          <a:p>
            <a:pPr algn="ctr">
              <a:defRPr/>
            </a:pPr>
            <a:r>
              <a:rPr lang="en-US" altLang="ko-KR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Ewha</a:t>
            </a:r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Womans</a:t>
            </a:r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University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 smtClean="0"/>
                  <a:t>From figure 1, we can find the exact expression of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ko-KR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ko-KR" dirty="0" smtClean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charset="0"/>
                      </a:rPr>
                      <m:t>=1</m:t>
                    </m:r>
                  </m:oMath>
                </a14:m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altLang="ko-KR" i="1">
                        <a:latin typeface="Cambria Math" charset="0"/>
                      </a:rPr>
                      <m:t> </m:t>
                    </m:r>
                    <m:r>
                      <a:rPr lang="en-US" altLang="ko-KR" i="1">
                        <a:latin typeface="Cambria Math" charset="0"/>
                      </a:rPr>
                      <m:t>𝑐𝑜𝑠</m:t>
                    </m:r>
                    <m:sSub>
                      <m:sSubPr>
                        <m:ctrlPr>
                          <a:rPr lang="en-US" altLang="ko-KR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𝜔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𝑐</m:t>
                        </m:r>
                      </m:sub>
                    </m:sSub>
                    <m:r>
                      <a:rPr lang="en-US" altLang="ko-KR" i="1">
                        <a:latin typeface="Cambria Math" charset="0"/>
                        <a:ea typeface="Cambria Math" charset="0"/>
                        <a:cs typeface="Cambria Math" charset="0"/>
                      </a:rPr>
                      <m:t>𝑡</m:t>
                    </m:r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𝑐𝑜𝑠</m:t>
                    </m:r>
                    <m:sSub>
                      <m:sSubPr>
                        <m:ctrlPr>
                          <a:rPr lang="en-US" altLang="ko-KR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𝜔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𝑐</m:t>
                        </m:r>
                      </m:sub>
                    </m:sSub>
                    <m:r>
                      <a:rPr lang="en-US" altLang="ko-KR" i="1">
                        <a:latin typeface="Cambria Math" charset="0"/>
                        <a:ea typeface="Cambria Math" charset="0"/>
                        <a:cs typeface="Cambria Math" charset="0"/>
                      </a:rPr>
                      <m:t>𝑡</m:t>
                    </m:r>
                  </m:oMath>
                </a14:m>
                <a:r>
                  <a:rPr lang="en-US" altLang="ko-KR" dirty="0" smtClean="0"/>
                  <a:t> 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charset="0"/>
                      </a:rPr>
                      <m:t>(</m:t>
                    </m:r>
                    <m:r>
                      <a:rPr lang="en-US" altLang="ko-KR" i="1" dirty="0">
                        <a:latin typeface="Cambria Math" charset="0"/>
                      </a:rPr>
                      <m:t>0&lt;</m:t>
                    </m:r>
                    <m:r>
                      <a:rPr lang="en-US" altLang="ko-KR" i="1" dirty="0">
                        <a:latin typeface="Cambria Math" charset="0"/>
                      </a:rPr>
                      <m:t>𝑡</m:t>
                    </m:r>
                    <m:r>
                      <a:rPr lang="en-US" altLang="ko-KR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≤</m:t>
                    </m:r>
                    <m:r>
                      <a:rPr lang="en-US" altLang="ko-KR" i="1" dirty="0">
                        <a:latin typeface="Cambria Math" charset="0"/>
                      </a:rPr>
                      <m:t>20, </m:t>
                    </m:r>
                    <m:r>
                      <a:rPr lang="en-US" altLang="ko-KR" b="0" i="1" dirty="0" smtClean="0">
                        <a:latin typeface="Cambria Math" charset="0"/>
                      </a:rPr>
                      <m:t> </m:t>
                    </m:r>
                    <m:r>
                      <a:rPr lang="en-US" altLang="ko-KR" i="1" dirty="0" smtClean="0">
                        <a:latin typeface="Cambria Math" charset="0"/>
                      </a:rPr>
                      <m:t>60&lt;</m:t>
                    </m:r>
                    <m:r>
                      <a:rPr lang="en-US" altLang="ko-KR" i="1" dirty="0" smtClean="0">
                        <a:latin typeface="Cambria Math" charset="0"/>
                      </a:rPr>
                      <m:t>𝑡</m:t>
                    </m:r>
                    <m:r>
                      <a:rPr lang="en-US" altLang="ko-KR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≤</m:t>
                    </m:r>
                    <m:r>
                      <a:rPr lang="en-US" altLang="ko-KR" i="1" dirty="0" smtClean="0">
                        <a:latin typeface="Cambria Math" charset="0"/>
                      </a:rPr>
                      <m:t>80)</m:t>
                    </m:r>
                  </m:oMath>
                </a14:m>
                <a:endParaRPr lang="en-US" altLang="ko-KR" dirty="0" smtClean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ko-KR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charset="0"/>
                      </a:rPr>
                      <m:t>=0</m:t>
                    </m:r>
                  </m:oMath>
                </a14:m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altLang="ko-KR" i="1">
                        <a:latin typeface="Cambria Math" charset="0"/>
                      </a:rPr>
                      <m:t> </m:t>
                    </m:r>
                    <m:r>
                      <a:rPr lang="en-US" altLang="ko-KR" i="1">
                        <a:latin typeface="Cambria Math" charset="0"/>
                      </a:rPr>
                      <m:t>𝑐𝑜𝑠</m:t>
                    </m:r>
                    <m:sSub>
                      <m:sSubPr>
                        <m:ctrlPr>
                          <a:rPr lang="en-US" altLang="ko-KR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𝜔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𝑐</m:t>
                        </m:r>
                      </m:sub>
                    </m:sSub>
                    <m:r>
                      <a:rPr lang="en-US" altLang="ko-KR" i="1">
                        <a:latin typeface="Cambria Math" charset="0"/>
                        <a:ea typeface="Cambria Math" charset="0"/>
                        <a:cs typeface="Cambria Math" charset="0"/>
                      </a:rPr>
                      <m:t>𝑡</m:t>
                    </m:r>
                    <m:r>
                      <a:rPr lang="en-US" altLang="ko-KR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−</m:t>
                    </m:r>
                    <m:r>
                      <a:rPr lang="en-US" altLang="ko-KR" i="1">
                        <a:latin typeface="Cambria Math" charset="0"/>
                        <a:ea typeface="Cambria Math" charset="0"/>
                        <a:cs typeface="Cambria Math" charset="0"/>
                      </a:rPr>
                      <m:t>𝑐𝑜𝑠</m:t>
                    </m:r>
                    <m:sSub>
                      <m:sSubPr>
                        <m:ctrlPr>
                          <a:rPr lang="en-US" altLang="ko-KR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𝜔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𝑐</m:t>
                        </m:r>
                      </m:sub>
                    </m:sSub>
                    <m:r>
                      <a:rPr lang="en-US" altLang="ko-KR" i="1">
                        <a:latin typeface="Cambria Math" charset="0"/>
                        <a:ea typeface="Cambria Math" charset="0"/>
                        <a:cs typeface="Cambria Math" charset="0"/>
                      </a:rPr>
                      <m:t>𝑡</m:t>
                    </m:r>
                  </m:oMath>
                </a14:m>
                <a:r>
                  <a:rPr lang="en-US" altLang="ko-KR" dirty="0" smtClean="0"/>
                  <a:t> 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charset="0"/>
                      </a:rPr>
                      <m:t>(20&lt;</m:t>
                    </m:r>
                    <m:r>
                      <a:rPr lang="en-US" altLang="ko-KR" i="1" dirty="0" smtClean="0">
                        <a:latin typeface="Cambria Math" charset="0"/>
                      </a:rPr>
                      <m:t>𝑡</m:t>
                    </m:r>
                    <m:r>
                      <a:rPr lang="en-US" altLang="ko-KR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≤</m:t>
                    </m:r>
                    <m:r>
                      <a:rPr lang="en-US" altLang="ko-KR" i="1" dirty="0" smtClean="0">
                        <a:latin typeface="Cambria Math" charset="0"/>
                      </a:rPr>
                      <m:t>60</m:t>
                    </m:r>
                    <m:r>
                      <a:rPr lang="en-US" altLang="ko-KR" i="1" dirty="0">
                        <a:latin typeface="Cambria Math" charset="0"/>
                      </a:rPr>
                      <m:t>, </m:t>
                    </m:r>
                    <m:r>
                      <a:rPr lang="en-US" altLang="ko-KR" b="0" i="1" dirty="0" smtClean="0">
                        <a:latin typeface="Cambria Math" charset="0"/>
                      </a:rPr>
                      <m:t> </m:t>
                    </m:r>
                    <m:r>
                      <a:rPr lang="en-US" altLang="ko-KR" i="1" dirty="0" smtClean="0">
                        <a:latin typeface="Cambria Math" charset="0"/>
                      </a:rPr>
                      <m:t>80&lt;</m:t>
                    </m:r>
                    <m:r>
                      <a:rPr lang="en-US" altLang="ko-KR" i="1" dirty="0" smtClean="0">
                        <a:latin typeface="Cambria Math" charset="0"/>
                      </a:rPr>
                      <m:t>𝑡</m:t>
                    </m:r>
                    <m:r>
                      <a:rPr lang="en-US" altLang="ko-KR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≤</m:t>
                    </m:r>
                    <m:r>
                      <a:rPr lang="en-US" altLang="ko-KR" i="1" dirty="0" smtClean="0">
                        <a:latin typeface="Cambria Math" charset="0"/>
                      </a:rPr>
                      <m:t>100)</m:t>
                    </m:r>
                  </m:oMath>
                </a14:m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49" t="-4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그룹 3"/>
          <p:cNvGrpSpPr/>
          <p:nvPr/>
        </p:nvGrpSpPr>
        <p:grpSpPr>
          <a:xfrm>
            <a:off x="2204133" y="3067372"/>
            <a:ext cx="4710334" cy="2449860"/>
            <a:chOff x="1083071" y="1021470"/>
            <a:chExt cx="8863817" cy="4610100"/>
          </a:xfrm>
        </p:grpSpPr>
        <p:grpSp>
          <p:nvGrpSpPr>
            <p:cNvPr id="5" name="그룹 4"/>
            <p:cNvGrpSpPr/>
            <p:nvPr/>
          </p:nvGrpSpPr>
          <p:grpSpPr>
            <a:xfrm>
              <a:off x="1083071" y="1021470"/>
              <a:ext cx="8863817" cy="4610100"/>
              <a:chOff x="436300" y="1066075"/>
              <a:chExt cx="8863817" cy="4610100"/>
            </a:xfrm>
          </p:grpSpPr>
          <p:pic>
            <p:nvPicPr>
              <p:cNvPr id="10" name="그림 9"/>
              <p:cNvPicPr>
                <a:picLocks noChangeAspect="1"/>
              </p:cNvPicPr>
              <p:nvPr/>
            </p:nvPicPr>
            <p:blipFill rotWithShape="1">
              <a:blip r:embed="rId3"/>
              <a:srcRect r="32013"/>
              <a:stretch/>
            </p:blipFill>
            <p:spPr>
              <a:xfrm>
                <a:off x="1121134" y="3023231"/>
                <a:ext cx="8178983" cy="938760"/>
              </a:xfrm>
              <a:prstGeom prst="rect">
                <a:avLst/>
              </a:prstGeom>
            </p:spPr>
          </p:pic>
          <p:pic>
            <p:nvPicPr>
              <p:cNvPr id="11" name="그림 10"/>
              <p:cNvPicPr>
                <a:picLocks noChangeAspect="1"/>
              </p:cNvPicPr>
              <p:nvPr/>
            </p:nvPicPr>
            <p:blipFill rotWithShape="1">
              <a:blip r:embed="rId4"/>
              <a:srcRect l="4287" r="42511"/>
              <a:stretch/>
            </p:blipFill>
            <p:spPr>
              <a:xfrm>
                <a:off x="1504709" y="1865127"/>
                <a:ext cx="6486353" cy="2959908"/>
              </a:xfrm>
              <a:prstGeom prst="rect">
                <a:avLst/>
              </a:prstGeom>
            </p:spPr>
          </p:pic>
          <p:pic>
            <p:nvPicPr>
              <p:cNvPr id="12" name="그림 11"/>
              <p:cNvPicPr>
                <a:picLocks noChangeAspect="1"/>
              </p:cNvPicPr>
              <p:nvPr/>
            </p:nvPicPr>
            <p:blipFill rotWithShape="1">
              <a:blip r:embed="rId5"/>
              <a:srcRect r="41170"/>
              <a:stretch/>
            </p:blipFill>
            <p:spPr>
              <a:xfrm>
                <a:off x="436300" y="1066075"/>
                <a:ext cx="1068409" cy="4610100"/>
              </a:xfrm>
              <a:prstGeom prst="rect">
                <a:avLst/>
              </a:prstGeom>
            </p:spPr>
          </p:pic>
          <p:pic>
            <p:nvPicPr>
              <p:cNvPr id="13" name="그림 12"/>
              <p:cNvPicPr>
                <a:picLocks noChangeAspect="1"/>
              </p:cNvPicPr>
              <p:nvPr/>
            </p:nvPicPr>
            <p:blipFill rotWithShape="1">
              <a:blip r:embed="rId4"/>
              <a:srcRect l="14838" r="42510"/>
              <a:stretch/>
            </p:blipFill>
            <p:spPr>
              <a:xfrm flipV="1">
                <a:off x="2790909" y="1968494"/>
                <a:ext cx="5200153" cy="2959908"/>
              </a:xfrm>
              <a:prstGeom prst="rect">
                <a:avLst/>
              </a:prstGeom>
            </p:spPr>
          </p:pic>
          <p:pic>
            <p:nvPicPr>
              <p:cNvPr id="14" name="그림 13"/>
              <p:cNvPicPr>
                <a:picLocks noChangeAspect="1"/>
              </p:cNvPicPr>
              <p:nvPr/>
            </p:nvPicPr>
            <p:blipFill rotWithShape="1">
              <a:blip r:embed="rId4"/>
              <a:srcRect l="36164" r="42445"/>
              <a:stretch/>
            </p:blipFill>
            <p:spPr>
              <a:xfrm>
                <a:off x="5383033" y="1865128"/>
                <a:ext cx="2608029" cy="2959908"/>
              </a:xfrm>
              <a:prstGeom prst="rect">
                <a:avLst/>
              </a:prstGeom>
            </p:spPr>
          </p:pic>
          <p:pic>
            <p:nvPicPr>
              <p:cNvPr id="15" name="그림 14"/>
              <p:cNvPicPr>
                <a:picLocks noChangeAspect="1"/>
              </p:cNvPicPr>
              <p:nvPr/>
            </p:nvPicPr>
            <p:blipFill rotWithShape="1">
              <a:blip r:embed="rId4"/>
              <a:srcRect l="46925" r="42445"/>
              <a:stretch/>
            </p:blipFill>
            <p:spPr>
              <a:xfrm flipV="1">
                <a:off x="6694998" y="1968494"/>
                <a:ext cx="1296064" cy="2959908"/>
              </a:xfrm>
              <a:prstGeom prst="rect">
                <a:avLst/>
              </a:prstGeom>
            </p:spPr>
          </p:pic>
        </p:grpSp>
        <p:sp>
          <p:nvSpPr>
            <p:cNvPr id="6" name="텍스트 상자 5"/>
            <p:cNvSpPr txBox="1"/>
            <p:nvPr/>
          </p:nvSpPr>
          <p:spPr>
            <a:xfrm>
              <a:off x="3286153" y="3326520"/>
              <a:ext cx="3545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 dirty="0" smtClean="0"/>
                <a:t>20</a:t>
              </a:r>
              <a:endParaRPr kumimoji="1" lang="ko-KR" altLang="en-US" sz="1200" dirty="0"/>
            </a:p>
          </p:txBody>
        </p:sp>
        <p:sp>
          <p:nvSpPr>
            <p:cNvPr id="7" name="텍스트 상자 6"/>
            <p:cNvSpPr txBox="1"/>
            <p:nvPr/>
          </p:nvSpPr>
          <p:spPr>
            <a:xfrm>
              <a:off x="7164477" y="3326518"/>
              <a:ext cx="3545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 smtClean="0"/>
                <a:t>80</a:t>
              </a:r>
              <a:endParaRPr kumimoji="1" lang="ko-KR" altLang="en-US" sz="1200" dirty="0"/>
            </a:p>
          </p:txBody>
        </p:sp>
        <p:sp>
          <p:nvSpPr>
            <p:cNvPr id="8" name="텍스트 상자 7"/>
            <p:cNvSpPr txBox="1"/>
            <p:nvPr/>
          </p:nvSpPr>
          <p:spPr>
            <a:xfrm>
              <a:off x="5853704" y="3331737"/>
              <a:ext cx="3545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 smtClean="0"/>
                <a:t>60</a:t>
              </a:r>
              <a:endParaRPr kumimoji="1" lang="ko-KR" altLang="en-US" sz="1200" dirty="0"/>
            </a:p>
          </p:txBody>
        </p:sp>
        <p:sp>
          <p:nvSpPr>
            <p:cNvPr id="9" name="텍스트 상자 8"/>
            <p:cNvSpPr txBox="1"/>
            <p:nvPr/>
          </p:nvSpPr>
          <p:spPr>
            <a:xfrm>
              <a:off x="8409893" y="3325641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 dirty="0" smtClean="0"/>
                <a:t>100</a:t>
              </a:r>
              <a:endParaRPr kumimoji="1" lang="ko-KR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88584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2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36550" y="836613"/>
                <a:ext cx="8445500" cy="514667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𝜔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𝑐</m:t>
                        </m:r>
                      </m:sub>
                    </m:sSub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altLang="ko-KR" i="1">
                        <a:latin typeface="Cambria Math" charset="0"/>
                        <a:ea typeface="Cambria Math" charset="0"/>
                        <a:cs typeface="Cambria Math" charset="0"/>
                      </a:rPr>
                      <m:t>2</m:t>
                    </m:r>
                    <m:r>
                      <a:rPr lang="en-US" altLang="ko-KR" i="1">
                        <a:latin typeface="Cambria Math" charset="0"/>
                        <a:ea typeface="Cambria Math" charset="0"/>
                        <a:cs typeface="Cambria Math" charset="0"/>
                      </a:rPr>
                      <m:t>𝜋</m:t>
                    </m:r>
                    <m:sSub>
                      <m:sSubPr>
                        <m:ctrlPr>
                          <a:rPr lang="en-US" altLang="ko-KR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b="0" dirty="0" smtClean="0">
                    <a:ea typeface="Cambria Math" charset="0"/>
                    <a:cs typeface="Cambria Math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ko-KR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altLang="ko-KR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e>
                    </m:d>
                    <m:r>
                      <a:rPr lang="en-US" altLang="ko-KR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𝑐𝑜𝑠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𝜔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𝑐</m:t>
                        </m:r>
                      </m:sub>
                    </m:sSub>
                    <m:r>
                      <a:rPr lang="en-US" altLang="ko-KR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𝑡</m:t>
                    </m:r>
                    <m:r>
                      <a:rPr lang="en-US" altLang="ko-KR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altLang="ko-KR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ko-KR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altLang="ko-KR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e>
                    </m:d>
                    <m:r>
                      <a:rPr lang="en-US" altLang="ko-KR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𝑐𝑜𝑠</m:t>
                    </m:r>
                    <m:r>
                      <a:rPr lang="en-US" altLang="ko-KR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2</m:t>
                    </m:r>
                    <m:r>
                      <a:rPr lang="en-US" altLang="ko-KR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𝜋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𝑐</m:t>
                        </m:r>
                      </m:sub>
                    </m:sSub>
                    <m:r>
                      <a:rPr lang="en-US" altLang="ko-KR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𝑡</m:t>
                    </m:r>
                  </m:oMath>
                </a14:m>
                <a:endParaRPr lang="en-US" altLang="ko-KR" b="0" dirty="0" smtClean="0">
                  <a:ea typeface="Cambria Math" charset="0"/>
                  <a:cs typeface="Cambria Math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d>
                      <m:dPr>
                        <m:ctrlPr>
                          <a:rPr lang="en-US" altLang="ko-KR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cos</m:t>
                    </m:r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⁡(2</m:t>
                    </m:r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𝜋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𝑐</m:t>
                        </m:r>
                      </m:sub>
                    </m:sSub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𝑡</m:t>
                    </m:r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altLang="ko-KR" b="0" dirty="0" smtClean="0">
                    <a:ea typeface="Cambria Math" charset="0"/>
                    <a:cs typeface="Cambria Math" charset="0"/>
                    <a:sym typeface="Wingdings"/>
                  </a:rPr>
                  <a:t> </a:t>
                </a:r>
                <a:r>
                  <a:rPr lang="en-US" altLang="ko-KR" b="0" i="1" dirty="0" smtClean="0">
                    <a:ea typeface="Cambria Math" charset="0"/>
                    <a:cs typeface="Cambria Math" charset="0"/>
                    <a:sym typeface="Wingdings"/>
                  </a:rPr>
                  <a:t>F.T.</a:t>
                </a:r>
                <a:r>
                  <a:rPr lang="en-US" altLang="ko-KR" b="0" dirty="0" smtClean="0">
                    <a:ea typeface="Cambria Math" charset="0"/>
                    <a:cs typeface="Cambria Math" charset="0"/>
                    <a:sym typeface="Wingdings"/>
                  </a:rPr>
                  <a:t>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 smtClean="0">
                            <a:latin typeface="Cambria Math" charset="0"/>
                            <a:ea typeface="Cambria Math" charset="0"/>
                            <a:cs typeface="Cambria Math" charset="0"/>
                            <a:sym typeface="Wingdings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charset="0"/>
                            <a:ea typeface="Cambria Math" charset="0"/>
                            <a:cs typeface="Cambria Math" charset="0"/>
                            <a:sym typeface="Wingdings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charset="0"/>
                            <a:ea typeface="Cambria Math" charset="0"/>
                            <a:cs typeface="Cambria Math" charset="0"/>
                            <a:sym typeface="Wingdings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  <a:sym typeface="Wingdings"/>
                      </a:rPr>
                      <m:t>[</m:t>
                    </m:r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  <a:sym typeface="Wingdings"/>
                      </a:rPr>
                      <m:t>𝑋</m:t>
                    </m:r>
                    <m:d>
                      <m:dPr>
                        <m:ctrlPr>
                          <a:rPr lang="en-US" altLang="ko-KR" b="0" i="1" smtClean="0">
                            <a:latin typeface="Cambria Math" charset="0"/>
                            <a:ea typeface="Cambria Math" charset="0"/>
                            <a:cs typeface="Cambria Math" charset="0"/>
                            <a:sym typeface="Wingdings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charset="0"/>
                            <a:ea typeface="Cambria Math" charset="0"/>
                            <a:cs typeface="Cambria Math" charset="0"/>
                            <a:sym typeface="Wingdings"/>
                          </a:rPr>
                          <m:t>𝑓</m:t>
                        </m:r>
                        <m:r>
                          <a:rPr lang="en-US" altLang="ko-KR" b="0" i="1" smtClean="0">
                            <a:latin typeface="Cambria Math" charset="0"/>
                            <a:ea typeface="Cambria Math" charset="0"/>
                            <a:cs typeface="Cambria Math" charset="0"/>
                            <a:sym typeface="Wingdings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  <a:sym typeface="Wingdings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  <a:sym typeface="Wingdings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  <a:sym typeface="Wingdings"/>
                              </a:rPr>
                              <m:t>𝑐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  <a:sym typeface="Wingdings"/>
                      </a:rPr>
                      <m:t>+</m:t>
                    </m:r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  <a:sym typeface="Wingdings"/>
                      </a:rPr>
                      <m:t>𝑋</m:t>
                    </m:r>
                    <m:d>
                      <m:dPr>
                        <m:ctrlPr>
                          <a:rPr lang="en-US" altLang="ko-KR" b="0" i="1" smtClean="0">
                            <a:latin typeface="Cambria Math" charset="0"/>
                            <a:ea typeface="Cambria Math" charset="0"/>
                            <a:cs typeface="Cambria Math" charset="0"/>
                            <a:sym typeface="Wingdings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charset="0"/>
                            <a:ea typeface="Cambria Math" charset="0"/>
                            <a:cs typeface="Cambria Math" charset="0"/>
                            <a:sym typeface="Wingdings"/>
                          </a:rPr>
                          <m:t>𝑓</m:t>
                        </m:r>
                        <m:r>
                          <a:rPr lang="en-US" altLang="ko-KR" b="0" i="1" smtClean="0">
                            <a:latin typeface="Cambria Math" charset="0"/>
                            <a:ea typeface="Cambria Math" charset="0"/>
                            <a:cs typeface="Cambria Math" charset="0"/>
                            <a:sym typeface="Wingdings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  <a:sym typeface="Wingdings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  <a:sym typeface="Wingdings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  <a:sym typeface="Wingdings"/>
                              </a:rPr>
                              <m:t>𝑐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  <a:sym typeface="Wingdings"/>
                      </a:rPr>
                      <m:t>]</m:t>
                    </m:r>
                  </m:oMath>
                </a14:m>
                <a:r>
                  <a:rPr lang="en-US" altLang="ko-KR" b="0" dirty="0" smtClean="0">
                    <a:ea typeface="Cambria Math" charset="0"/>
                    <a:cs typeface="Cambria Math" charset="0"/>
                    <a:sym typeface="Wingdings"/>
                  </a:rPr>
                  <a:t> </a:t>
                </a:r>
              </a:p>
              <a:p>
                <a:r>
                  <a:rPr lang="en-US" altLang="ko-KR" dirty="0" smtClean="0">
                    <a:ea typeface="Cambria Math" charset="0"/>
                    <a:cs typeface="Cambria Math" charset="0"/>
                  </a:rPr>
                  <a:t>From the modulation property (the expression above), the amplitude of the signals reduced to half. And the signals moved to the carrier frequency both in positive area and negative area.</a:t>
                </a:r>
                <a:endParaRPr lang="en-US" altLang="ko-KR" b="0" dirty="0" smtClean="0">
                  <a:ea typeface="Cambria Math" charset="0"/>
                  <a:cs typeface="Cambria Math" charset="0"/>
                </a:endParaRPr>
              </a:p>
              <a:p>
                <a:endParaRPr lang="en-US" altLang="ko-KR" b="0" dirty="0" smtClean="0">
                  <a:ea typeface="Cambria Math" charset="0"/>
                  <a:cs typeface="Cambria Math" charset="0"/>
                </a:endParaRPr>
              </a:p>
              <a:p>
                <a:endParaRPr lang="en-US" altLang="ko-KR" b="0" dirty="0" smtClean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42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6550" y="836613"/>
                <a:ext cx="8445500" cy="5146675"/>
              </a:xfrm>
              <a:blipFill rotWithShape="0">
                <a:blip r:embed="rId2"/>
                <a:stretch>
                  <a:fillRect l="-649" t="-4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</a:t>
            </a:r>
            <a:endParaRPr lang="ko-KR" altLang="en-US" dirty="0"/>
          </a:p>
        </p:txBody>
      </p:sp>
      <p:pic>
        <p:nvPicPr>
          <p:cNvPr id="8" name="내용 개체 틀 4"/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691" r="4808" b="7693"/>
          <a:stretch/>
        </p:blipFill>
        <p:spPr bwMode="auto">
          <a:xfrm>
            <a:off x="6143476" y="5133895"/>
            <a:ext cx="1584176" cy="43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내용 개체 틀 4"/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691" r="4808" b="7693"/>
          <a:stretch/>
        </p:blipFill>
        <p:spPr bwMode="auto">
          <a:xfrm flipH="1">
            <a:off x="1390948" y="5133895"/>
            <a:ext cx="1584176" cy="43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텍스트 상자 10"/>
              <p:cNvSpPr txBox="1"/>
              <p:nvPr/>
            </p:nvSpPr>
            <p:spPr>
              <a:xfrm>
                <a:off x="1907704" y="5497487"/>
                <a:ext cx="21602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kumimoji="1" lang="en-US" altLang="ko-KR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>
          <p:sp>
            <p:nvSpPr>
              <p:cNvPr id="11" name="텍스트 상자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5497487"/>
                <a:ext cx="216024" cy="307777"/>
              </a:xfrm>
              <a:prstGeom prst="rect">
                <a:avLst/>
              </a:prstGeom>
              <a:blipFill rotWithShape="0">
                <a:blip r:embed="rId4"/>
                <a:stretch>
                  <a:fillRect r="-91429" b="-1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텍스트 상자 11"/>
              <p:cNvSpPr txBox="1"/>
              <p:nvPr/>
            </p:nvSpPr>
            <p:spPr>
              <a:xfrm>
                <a:off x="2369096" y="5497487"/>
                <a:ext cx="85571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𝑐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r>
                        <a:rPr kumimoji="1" lang="en-US" altLang="ko-KR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</m:oMath>
                  </m:oMathPara>
                </a14:m>
                <a:endParaRPr kumimoji="1" lang="en-US" altLang="ko-KR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>
          <p:sp>
            <p:nvSpPr>
              <p:cNvPr id="12" name="텍스트 상자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9096" y="5497487"/>
                <a:ext cx="855712" cy="307777"/>
              </a:xfrm>
              <a:prstGeom prst="rect">
                <a:avLst/>
              </a:prstGeom>
              <a:blipFill rotWithShape="0">
                <a:blip r:embed="rId5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텍스트 상자 12"/>
              <p:cNvSpPr txBox="1"/>
              <p:nvPr/>
            </p:nvSpPr>
            <p:spPr>
              <a:xfrm>
                <a:off x="7131249" y="5491807"/>
                <a:ext cx="7962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𝑐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r>
                        <a:rPr kumimoji="1" lang="en-US" altLang="ko-KR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</m:oMath>
                  </m:oMathPara>
                </a14:m>
                <a:endParaRPr kumimoji="1" lang="en-US" altLang="ko-KR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>
          <p:sp>
            <p:nvSpPr>
              <p:cNvPr id="13" name="텍스트 상자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1249" y="5491807"/>
                <a:ext cx="796280" cy="307777"/>
              </a:xfrm>
              <a:prstGeom prst="rect">
                <a:avLst/>
              </a:prstGeom>
              <a:blipFill rotWithShape="0">
                <a:blip r:embed="rId6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텍스트 상자 13"/>
              <p:cNvSpPr txBox="1"/>
              <p:nvPr/>
            </p:nvSpPr>
            <p:spPr>
              <a:xfrm>
                <a:off x="992139" y="5491807"/>
                <a:ext cx="91095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𝑐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</m:t>
                      </m:r>
                      <m:r>
                        <a:rPr kumimoji="1" lang="en-US" altLang="ko-KR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</m:oMath>
                  </m:oMathPara>
                </a14:m>
                <a:endParaRPr kumimoji="1" lang="en-US" altLang="ko-KR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>
          <p:sp>
            <p:nvSpPr>
              <p:cNvPr id="14" name="텍스트 상자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139" y="5491807"/>
                <a:ext cx="910952" cy="307777"/>
              </a:xfrm>
              <a:prstGeom prst="rect">
                <a:avLst/>
              </a:prstGeom>
              <a:blipFill rotWithShape="0">
                <a:blip r:embed="rId7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텍스트 상자 14"/>
              <p:cNvSpPr txBox="1"/>
              <p:nvPr/>
            </p:nvSpPr>
            <p:spPr>
              <a:xfrm>
                <a:off x="5906235" y="5493455"/>
                <a:ext cx="75855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𝑐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</m:t>
                      </m:r>
                      <m:r>
                        <a:rPr kumimoji="1" lang="en-US" altLang="ko-KR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</m:oMath>
                  </m:oMathPara>
                </a14:m>
                <a:endParaRPr kumimoji="1" lang="en-US" altLang="ko-KR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>
          <p:sp>
            <p:nvSpPr>
              <p:cNvPr id="15" name="텍스트 상자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6235" y="5493455"/>
                <a:ext cx="758552" cy="307777"/>
              </a:xfrm>
              <a:prstGeom prst="rect">
                <a:avLst/>
              </a:prstGeom>
              <a:blipFill rotWithShape="0">
                <a:blip r:embed="rId8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텍스트 상자 15"/>
              <p:cNvSpPr txBox="1"/>
              <p:nvPr/>
            </p:nvSpPr>
            <p:spPr>
              <a:xfrm>
                <a:off x="6755544" y="5491807"/>
                <a:ext cx="3600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kumimoji="1" lang="en-US" altLang="ko-KR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>
          <p:sp>
            <p:nvSpPr>
              <p:cNvPr id="16" name="텍스트 상자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5544" y="5491807"/>
                <a:ext cx="360040" cy="307777"/>
              </a:xfrm>
              <a:prstGeom prst="rect">
                <a:avLst/>
              </a:prstGeom>
              <a:blipFill rotWithShape="0">
                <a:blip r:embed="rId9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직선 연결선[R] 17"/>
          <p:cNvCxnSpPr/>
          <p:nvPr/>
        </p:nvCxnSpPr>
        <p:spPr>
          <a:xfrm>
            <a:off x="2181300" y="5536331"/>
            <a:ext cx="0" cy="663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[R] 26"/>
          <p:cNvCxnSpPr/>
          <p:nvPr/>
        </p:nvCxnSpPr>
        <p:spPr>
          <a:xfrm>
            <a:off x="1547664" y="5527178"/>
            <a:ext cx="0" cy="663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연결선[R] 27"/>
          <p:cNvCxnSpPr/>
          <p:nvPr/>
        </p:nvCxnSpPr>
        <p:spPr>
          <a:xfrm>
            <a:off x="2796952" y="5527178"/>
            <a:ext cx="0" cy="663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연결선[R] 28"/>
          <p:cNvCxnSpPr/>
          <p:nvPr/>
        </p:nvCxnSpPr>
        <p:spPr>
          <a:xfrm>
            <a:off x="6300192" y="5533390"/>
            <a:ext cx="0" cy="663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연결선[R] 29"/>
          <p:cNvCxnSpPr/>
          <p:nvPr/>
        </p:nvCxnSpPr>
        <p:spPr>
          <a:xfrm>
            <a:off x="6940144" y="5527178"/>
            <a:ext cx="0" cy="663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연결선[R] 30"/>
          <p:cNvCxnSpPr/>
          <p:nvPr/>
        </p:nvCxnSpPr>
        <p:spPr>
          <a:xfrm>
            <a:off x="7596336" y="5527178"/>
            <a:ext cx="0" cy="663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683568" y="5569495"/>
            <a:ext cx="79928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 flipV="1">
            <a:off x="4572000" y="3265239"/>
            <a:ext cx="0" cy="2304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텍스트 상자 38"/>
              <p:cNvSpPr txBox="1"/>
              <p:nvPr/>
            </p:nvSpPr>
            <p:spPr>
              <a:xfrm>
                <a:off x="8316416" y="5497487"/>
                <a:ext cx="33900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i="1" dirty="0" smtClean="0">
                          <a:latin typeface="Cambria Math" charset="0"/>
                        </a:rPr>
                        <m:t>𝑓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>
          <p:sp>
            <p:nvSpPr>
              <p:cNvPr id="39" name="텍스트 상자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416" y="5497487"/>
                <a:ext cx="339004" cy="307777"/>
              </a:xfrm>
              <a:prstGeom prst="rect">
                <a:avLst/>
              </a:prstGeom>
              <a:blipFill rotWithShape="0">
                <a:blip r:embed="rId10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직선 화살표 연결선 43"/>
          <p:cNvCxnSpPr/>
          <p:nvPr/>
        </p:nvCxnSpPr>
        <p:spPr>
          <a:xfrm flipV="1">
            <a:off x="2181300" y="4312841"/>
            <a:ext cx="0" cy="1276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/>
          <p:nvPr/>
        </p:nvCxnSpPr>
        <p:spPr>
          <a:xfrm flipV="1">
            <a:off x="6943882" y="4326260"/>
            <a:ext cx="0" cy="1276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텍스트 상자 47"/>
              <p:cNvSpPr txBox="1"/>
              <p:nvPr/>
            </p:nvSpPr>
            <p:spPr>
              <a:xfrm>
                <a:off x="4627410" y="4661543"/>
                <a:ext cx="730328" cy="4956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ko-KR" b="0" i="1" dirty="0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kumimoji="1" lang="en-US" altLang="ko-KR" b="0" i="1" dirty="0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ko-KR" b="0" i="1" dirty="0" smtClean="0"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ko-KR" i="1" dirty="0" smtClean="0">
                          <a:latin typeface="Cambria Math" charset="0"/>
                        </a:rPr>
                        <m:t>𝑋</m:t>
                      </m:r>
                      <m:r>
                        <a:rPr kumimoji="1" lang="en-US" altLang="ko-KR" i="1" dirty="0" smtClean="0">
                          <a:latin typeface="Cambria Math" charset="0"/>
                        </a:rPr>
                        <m:t>(0)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>
          <p:sp>
            <p:nvSpPr>
              <p:cNvPr id="48" name="텍스트 상자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7410" y="4661543"/>
                <a:ext cx="730328" cy="495649"/>
              </a:xfrm>
              <a:prstGeom prst="rect">
                <a:avLst/>
              </a:prstGeom>
              <a:blipFill rotWithShape="0">
                <a:blip r:embed="rId11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직선 연결선[R] 50"/>
          <p:cNvCxnSpPr/>
          <p:nvPr/>
        </p:nvCxnSpPr>
        <p:spPr>
          <a:xfrm flipH="1">
            <a:off x="2181300" y="5229200"/>
            <a:ext cx="4762582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777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Fourier Transform and Its Modulation Property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36550" y="836613"/>
                <a:ext cx="8483922" cy="5146675"/>
              </a:xfrm>
            </p:spPr>
            <p:txBody>
              <a:bodyPr/>
              <a:lstStyle/>
              <a:p>
                <a:endParaRPr lang="en-US" altLang="ko-KR" b="0" i="1" dirty="0" smtClean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𝑗</m:t>
                            </m:r>
                            <m:r>
                              <a:rPr lang="en-US" altLang="ko-KR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2</m:t>
                            </m:r>
                            <m:r>
                              <a:rPr lang="en-US" altLang="ko-KR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𝑔</m:t>
                    </m:r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𝑡</m:t>
                    </m:r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altLang="ko-KR" dirty="0" smtClean="0">
                    <a:ea typeface="Cambria Math" charset="0"/>
                    <a:cs typeface="Cambria Math" charset="0"/>
                    <a:sym typeface="Wingdings"/>
                  </a:rPr>
                  <a:t>F.T.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  <a:sym typeface="Wingdings"/>
                      </a:rPr>
                      <m:t>𝐺</m:t>
                    </m:r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  <a:sym typeface="Wingdings"/>
                      </a:rPr>
                      <m:t>(</m:t>
                    </m:r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  <a:sym typeface="Wingdings"/>
                      </a:rPr>
                      <m:t>𝑓</m:t>
                    </m:r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  <a:sym typeface="Wingdings"/>
                      </a:rPr>
                      <m:t>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charset="0"/>
                            <a:ea typeface="Cambria Math" charset="0"/>
                            <a:cs typeface="Cambria Math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charset="0"/>
                            <a:ea typeface="Cambria Math" charset="0"/>
                            <a:cs typeface="Cambria Math" charset="0"/>
                            <a:sym typeface="Wingdings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charset="0"/>
                            <a:ea typeface="Cambria Math" charset="0"/>
                            <a:cs typeface="Cambria Math" charset="0"/>
                            <a:sym typeface="Wingdings"/>
                          </a:rPr>
                          <m:t>𝑐</m:t>
                        </m:r>
                      </m:sub>
                    </m:sSub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  <a:sym typeface="Wingdings"/>
                      </a:rPr>
                      <m:t>)</m:t>
                    </m:r>
                  </m:oMath>
                </a14:m>
                <a:endParaRPr lang="en-US" altLang="ko-KR" dirty="0" smtClean="0">
                  <a:ea typeface="Cambria Math" charset="0"/>
                  <a:cs typeface="Cambria Math" charset="0"/>
                </a:endParaRPr>
              </a:p>
              <a:p>
                <a:endParaRPr lang="en-US" altLang="ko-KR" dirty="0" smtClean="0">
                  <a:ea typeface="Cambria Math" charset="0"/>
                  <a:cs typeface="Cambria Math" charset="0"/>
                </a:endParaRPr>
              </a:p>
              <a:p>
                <a:r>
                  <a:rPr lang="en-US" altLang="ko-KR" dirty="0" smtClean="0">
                    <a:ea typeface="Cambria Math" charset="0"/>
                    <a:cs typeface="Cambria Math" charset="0"/>
                  </a:rPr>
                  <a:t>Multiplication of a function g(t) by the factor </a:t>
                </a:r>
                <a:r>
                  <a:rPr lang="en-US" altLang="ko-KR" dirty="0" err="1" smtClean="0">
                    <a:ea typeface="Cambria Math" charset="0"/>
                    <a:cs typeface="Cambria Math" charset="0"/>
                  </a:rPr>
                  <a:t>exp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𝑗</m:t>
                        </m:r>
                        <m:r>
                          <a:rPr lang="en-US" altLang="ko-KR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  <m:r>
                          <a:rPr lang="en-US" altLang="ko-KR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ko-KR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ko-KR" dirty="0" smtClean="0">
                    <a:ea typeface="Cambria Math" charset="0"/>
                    <a:cs typeface="Cambria Math" charset="0"/>
                  </a:rPr>
                  <a:t> is equivalent to shifting its Fourier transform G(f) in the positive direction by the amount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dirty="0" smtClean="0">
                    <a:ea typeface="Cambria Math" charset="0"/>
                    <a:cs typeface="Cambria Math" charset="0"/>
                  </a:rPr>
                  <a:t>.</a:t>
                </a:r>
              </a:p>
              <a:p>
                <a:endParaRPr lang="en-US" altLang="ko-KR" dirty="0">
                  <a:ea typeface="Cambria Math" charset="0"/>
                  <a:cs typeface="Cambria Math" charset="0"/>
                </a:endParaRPr>
              </a:p>
              <a:p>
                <a:r>
                  <a:rPr lang="en-US" altLang="ko-KR" dirty="0" smtClean="0">
                    <a:ea typeface="Cambria Math" charset="0"/>
                    <a:cs typeface="Cambria Math" charset="0"/>
                  </a:rPr>
                  <a:t>e.g.)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2</m:t>
                            </m:r>
                            <m:r>
                              <a:rPr lang="en-US" altLang="ko-KR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ko-KR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𝑗</m:t>
                                </m:r>
                                <m:r>
                                  <a:rPr lang="en-US" altLang="ko-KR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2</m:t>
                                </m:r>
                                <m:r>
                                  <a:rPr lang="en-US" altLang="ko-KR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𝜋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  <m:r>
                          <a:rPr lang="en-US" altLang="ko-KR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altLang="ko-KR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−</m:t>
                                </m:r>
                                <m:r>
                                  <a:rPr lang="en-US" altLang="ko-KR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𝑗</m:t>
                                </m:r>
                                <m:r>
                                  <a:rPr lang="en-US" altLang="ko-KR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2</m:t>
                                </m:r>
                                <m:r>
                                  <a:rPr lang="en-US" altLang="ko-KR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𝜋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altLang="ko-KR" b="0" i="1" dirty="0" smtClean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  <m:r>
                                <a:rPr lang="en-US" altLang="ko-KR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altLang="ko-KR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𝑔</m:t>
                      </m:r>
                      <m:d>
                        <m:dPr>
                          <m:ctrlP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funcPr>
                        <m:fName>
                          <m:r>
                            <a:rPr lang="en-US" altLang="ko-KR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𝑗</m:t>
                              </m:r>
                              <m:r>
                                <a:rPr lang="en-US" altLang="ko-KR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  <m:r>
                                <a:rPr lang="en-US" altLang="ko-KR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altLang="ko-KR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−</m:t>
                              </m:r>
                              <m:r>
                                <a:rPr lang="en-US" altLang="ko-KR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𝑗</m:t>
                              </m:r>
                              <m:r>
                                <a:rPr lang="en-US" altLang="ko-KR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  <m:r>
                                <a:rPr lang="en-US" altLang="ko-KR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]</m:t>
                          </m:r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𝑔</m:t>
                          </m:r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(</m:t>
                          </m:r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𝑡</m:t>
                          </m:r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ko-KR" b="0" dirty="0" smtClean="0">
                  <a:ea typeface="Cambria Math" charset="0"/>
                  <a:cs typeface="Cambria Math" charset="0"/>
                </a:endParaRPr>
              </a:p>
              <a:p>
                <a:pPr marL="344487" lvl="1" indent="0">
                  <a:buNone/>
                </a:pPr>
                <a:r>
                  <a:rPr lang="en-US" altLang="ko-KR" b="0" dirty="0" smtClean="0">
                    <a:ea typeface="Cambria Math" charset="0"/>
                    <a:cs typeface="Cambria Math" charset="0"/>
                    <a:sym typeface="Wingdings"/>
                  </a:rPr>
                  <a:t>			F.T. </a:t>
                </a:r>
                <a14:m>
                  <m:oMath xmlns:m="http://schemas.openxmlformats.org/officeDocument/2006/math">
                    <m:r>
                      <a:rPr lang="en-US" altLang="ko-KR" sz="2000" b="0" i="0" smtClean="0">
                        <a:latin typeface="Cambria Math" charset="0"/>
                        <a:ea typeface="Cambria Math" charset="0"/>
                        <a:cs typeface="Cambria Math" charset="0"/>
                        <a:sym typeface="Wingdings"/>
                      </a:rPr>
                      <m:t> 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charset="0"/>
                            <a:ea typeface="Cambria Math" charset="0"/>
                            <a:cs typeface="Cambria Math" charset="0"/>
                            <a:sym typeface="Wingdings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charset="0"/>
                            <a:ea typeface="Cambria Math" charset="0"/>
                            <a:cs typeface="Cambria Math" charset="0"/>
                            <a:sym typeface="Wingdings"/>
                          </a:rPr>
                          <m:t>1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charset="0"/>
                            <a:ea typeface="Cambria Math" charset="0"/>
                            <a:cs typeface="Cambria Math" charset="0"/>
                            <a:sym typeface="Wingdings"/>
                          </a:rPr>
                          <m:t>2</m:t>
                        </m:r>
                      </m:den>
                    </m:f>
                    <m:r>
                      <a:rPr lang="en-US" altLang="ko-KR" sz="2000" b="0" i="1" smtClean="0">
                        <a:latin typeface="Cambria Math" charset="0"/>
                        <a:ea typeface="Cambria Math" charset="0"/>
                        <a:cs typeface="Cambria Math" charset="0"/>
                        <a:sym typeface="Wingdings"/>
                      </a:rPr>
                      <m:t>[</m:t>
                    </m:r>
                    <m:r>
                      <a:rPr lang="en-US" altLang="ko-KR" sz="2000" b="0" i="1" smtClean="0">
                        <a:latin typeface="Cambria Math" charset="0"/>
                        <a:ea typeface="Cambria Math" charset="0"/>
                        <a:cs typeface="Cambria Math" charset="0"/>
                        <a:sym typeface="Wingdings"/>
                      </a:rPr>
                      <m:t>𝐺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charset="0"/>
                            <a:ea typeface="Cambria Math" charset="0"/>
                            <a:cs typeface="Cambria Math" charset="0"/>
                            <a:sym typeface="Wingdings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charset="0"/>
                            <a:ea typeface="Cambria Math" charset="0"/>
                            <a:cs typeface="Cambria Math" charset="0"/>
                            <a:sym typeface="Wingdings"/>
                          </a:rPr>
                          <m:t>𝑓</m:t>
                        </m:r>
                        <m:r>
                          <a:rPr lang="en-US" altLang="ko-KR" sz="2000" b="0" i="1" smtClean="0">
                            <a:latin typeface="Cambria Math" charset="0"/>
                            <a:ea typeface="Cambria Math" charset="0"/>
                            <a:cs typeface="Cambria Math" charset="0"/>
                            <a:sym typeface="Wingdings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  <a:sym typeface="Wingdings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  <a:sym typeface="Wingdings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  <a:sym typeface="Wingdings"/>
                              </a:rPr>
                              <m:t>𝑐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atin typeface="Cambria Math" charset="0"/>
                        <a:ea typeface="Cambria Math" charset="0"/>
                        <a:cs typeface="Cambria Math" charset="0"/>
                        <a:sym typeface="Wingdings"/>
                      </a:rPr>
                      <m:t>+</m:t>
                    </m:r>
                    <m:r>
                      <a:rPr lang="en-US" altLang="ko-KR" sz="2000" b="0" i="1" smtClean="0">
                        <a:latin typeface="Cambria Math" charset="0"/>
                        <a:ea typeface="Cambria Math" charset="0"/>
                        <a:cs typeface="Cambria Math" charset="0"/>
                        <a:sym typeface="Wingdings"/>
                      </a:rPr>
                      <m:t>𝐺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charset="0"/>
                            <a:ea typeface="Cambria Math" charset="0"/>
                            <a:cs typeface="Cambria Math" charset="0"/>
                            <a:sym typeface="Wingdings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charset="0"/>
                            <a:ea typeface="Cambria Math" charset="0"/>
                            <a:cs typeface="Cambria Math" charset="0"/>
                            <a:sym typeface="Wingdings"/>
                          </a:rPr>
                          <m:t>𝑓</m:t>
                        </m:r>
                        <m:r>
                          <a:rPr lang="en-US" altLang="ko-KR" sz="2000" b="0" i="1" smtClean="0">
                            <a:latin typeface="Cambria Math" charset="0"/>
                            <a:ea typeface="Cambria Math" charset="0"/>
                            <a:cs typeface="Cambria Math" charset="0"/>
                            <a:sym typeface="Wingdings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  <a:sym typeface="Wingdings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  <a:sym typeface="Wingdings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  <a:sym typeface="Wingdings"/>
                              </a:rPr>
                              <m:t>𝑐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atin typeface="Cambria Math" charset="0"/>
                        <a:ea typeface="Cambria Math" charset="0"/>
                        <a:cs typeface="Cambria Math" charset="0"/>
                        <a:sym typeface="Wingdings"/>
                      </a:rPr>
                      <m:t>]</m:t>
                    </m:r>
                  </m:oMath>
                </a14:m>
                <a:endParaRPr lang="en-US" altLang="ko-KR" sz="2000" b="0" dirty="0" smtClean="0">
                  <a:ea typeface="Cambria Math" charset="0"/>
                  <a:cs typeface="Cambria Math" charset="0"/>
                </a:endParaRPr>
              </a:p>
              <a:p>
                <a:endParaRPr lang="en-US" altLang="ko-KR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6550" y="836613"/>
                <a:ext cx="8483922" cy="5146675"/>
              </a:xfrm>
              <a:blipFill rotWithShape="0">
                <a:blip r:embed="rId2"/>
                <a:stretch>
                  <a:fillRect l="-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7237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ORDWRAP" val="0"/>
  <p:tag name="DEFAULTWIDTH" val="483"/>
  <p:tag name="DEFAULTHEIGHT" val="392"/>
  <p:tag name="FONTSIZE" val="10"/>
  <p:tag name="PREAMBLE" val="\documentclass{article}&#10;\pagestyle{empty}&#10;\usepackage{xspace,amssymb,amsfonts,amsmath}&#10;\usepackage{color}&#10;\usepackage{TeX4PPT}&#10;"/>
  <p:tag name="MAGPC" val="200"/>
</p:tagLst>
</file>

<file path=ppt/theme/theme1.xml><?xml version="1.0" encoding="utf-8"?>
<a:theme xmlns:a="http://schemas.openxmlformats.org/drawingml/2006/main" name="LTS4template">
  <a:themeElements>
    <a:clrScheme name="LTS4template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LTS4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TS4template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TS4template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11710</TotalTime>
  <Words>449</Words>
  <Application>Microsoft Macintosh PowerPoint</Application>
  <PresentationFormat>화면 슬라이드 쇼(4:3)</PresentationFormat>
  <Paragraphs>36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굴림</vt:lpstr>
      <vt:lpstr>이화체</vt:lpstr>
      <vt:lpstr>Cambria Math</vt:lpstr>
      <vt:lpstr>Wingdings</vt:lpstr>
      <vt:lpstr>Arial</vt:lpstr>
      <vt:lpstr>LTS4template</vt:lpstr>
      <vt:lpstr>Amplitude Modulation</vt:lpstr>
      <vt:lpstr>1. </vt:lpstr>
      <vt:lpstr>2.</vt:lpstr>
      <vt:lpstr>3. Fourier Transform and Its Modulation Property</vt:lpstr>
    </vt:vector>
  </TitlesOfParts>
  <Company>EPFL</Company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frossard</dc:creator>
  <cp:lastModifiedBy>이효림</cp:lastModifiedBy>
  <cp:revision>524</cp:revision>
  <cp:lastPrinted>2012-02-24T14:58:28Z</cp:lastPrinted>
  <dcterms:created xsi:type="dcterms:W3CDTF">2006-08-12T12:19:02Z</dcterms:created>
  <dcterms:modified xsi:type="dcterms:W3CDTF">2017-09-12T21:06:47Z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