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5"/>
  </p:notesMasterIdLst>
  <p:handoutMasterIdLst>
    <p:handoutMasterId r:id="rId6"/>
  </p:handoutMasterIdLst>
  <p:sldIdLst>
    <p:sldId id="317" r:id="rId2"/>
    <p:sldId id="323" r:id="rId3"/>
    <p:sldId id="324" r:id="rId4"/>
  </p:sldIdLst>
  <p:sldSz cx="9144000" cy="6858000" type="screen4x3"/>
  <p:notesSz cx="7315200" cy="9601200"/>
  <p:custDataLst>
    <p:tags r:id="rId7"/>
  </p:custDataLst>
  <p:defaultTextStyle>
    <a:defPPr>
      <a:defRPr lang="en-US"/>
    </a:defPPr>
    <a:lvl1pPr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A50021"/>
    <a:srgbClr val="0000CC"/>
    <a:srgbClr val="006600"/>
    <a:srgbClr val="FF0000"/>
    <a:srgbClr val="6699FF"/>
    <a:srgbClr val="000066"/>
    <a:srgbClr val="FF3300"/>
    <a:srgbClr val="0033CC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06" autoAdjust="0"/>
    <p:restoredTop sz="94753" autoAdjust="0"/>
  </p:normalViewPr>
  <p:slideViewPr>
    <p:cSldViewPr snapToObjects="1">
      <p:cViewPr>
        <p:scale>
          <a:sx n="107" d="100"/>
          <a:sy n="107" d="100"/>
        </p:scale>
        <p:origin x="1592" y="1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tags" Target="tags/tag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348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348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348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fld id="{5F767509-F31D-4257-8110-ED0F5B2FC2BD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837833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66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</a:p>
        </p:txBody>
      </p:sp>
      <p:sp>
        <p:nvSpPr>
          <p:cNvPr id="166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66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fld id="{1ADD2597-761D-4D78-923C-A67F4CCC4C31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428958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953977"/>
            <a:ext cx="7772400" cy="835063"/>
          </a:xfrm>
        </p:spPr>
        <p:txBody>
          <a:bodyPr>
            <a:normAutofit/>
          </a:bodyPr>
          <a:lstStyle>
            <a:lvl1pPr algn="ctr">
              <a:defRPr sz="5400" spc="-150">
                <a:solidFill>
                  <a:srgbClr val="006600"/>
                </a:solidFill>
                <a:latin typeface="이화체" pitchFamily="2" charset="-127"/>
                <a:ea typeface="이화체" pitchFamily="2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41479" y="393305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이화체" pitchFamily="2" charset="-127"/>
                <a:ea typeface="이화체" pitchFamily="2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</a:t>
            </a:r>
            <a:r>
              <a:rPr lang="ko-KR" altLang="en-US" dirty="0" smtClean="0"/>
              <a:t>부제목 스타일 편집</a:t>
            </a:r>
            <a:endParaRPr lang="ko-KR" alt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32656"/>
            <a:ext cx="9144000" cy="235743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252536" y="2711646"/>
            <a:ext cx="31750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7221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</p:cNvSpPr>
          <p:nvPr>
            <p:ph type="title"/>
          </p:nvPr>
        </p:nvSpPr>
        <p:spPr bwMode="auto">
          <a:xfrm>
            <a:off x="60539" y="20822"/>
            <a:ext cx="8467725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en-US" dirty="0" smtClean="0"/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</p:cNvSpPr>
          <p:nvPr>
            <p:ph idx="1"/>
          </p:nvPr>
        </p:nvSpPr>
        <p:spPr bwMode="auto">
          <a:xfrm>
            <a:off x="336550" y="836613"/>
            <a:ext cx="8445500" cy="514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 altLang="en-US" noProof="0" dirty="0" smtClean="0"/>
              <a:t>Click to edit Master text styles</a:t>
            </a:r>
          </a:p>
          <a:p>
            <a:pPr lvl="1"/>
            <a:r>
              <a:rPr lang="en-US" altLang="en-US" noProof="0" dirty="0" smtClean="0"/>
              <a:t>Second level</a:t>
            </a:r>
            <a:endParaRPr lang="en-US" altLang="ko-KR" noProof="0" dirty="0" smtClean="0"/>
          </a:p>
          <a:p>
            <a:pPr lvl="2"/>
            <a:r>
              <a:rPr lang="en-US" altLang="ko-KR" noProof="0" dirty="0" smtClean="0"/>
              <a:t>Third Level</a:t>
            </a:r>
          </a:p>
          <a:p>
            <a:pPr lvl="3"/>
            <a:r>
              <a:rPr lang="en-US" altLang="ko-KR" noProof="0" dirty="0" smtClean="0"/>
              <a:t>Fourth Level</a:t>
            </a:r>
          </a:p>
          <a:p>
            <a:pPr lvl="2"/>
            <a:endParaRPr lang="en-US" altLang="en-US" noProof="0" dirty="0" smtClean="0"/>
          </a:p>
          <a:p>
            <a:pPr lvl="2"/>
            <a:endParaRPr lang="en-US" altLang="en-US" noProof="0" dirty="0" smtClean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7767"/>
            <a:ext cx="9144000" cy="767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8488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Picture 9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6093296"/>
            <a:ext cx="9180512" cy="759906"/>
          </a:xfrm>
          <a:prstGeom prst="rect">
            <a:avLst/>
          </a:prstGeom>
          <a:noFill/>
          <a:ln>
            <a:noFill/>
          </a:ln>
          <a:effectLst>
            <a:glow>
              <a:schemeClr val="accent1">
                <a:alpha val="80000"/>
              </a:schemeClr>
            </a:glow>
            <a:outerShdw dist="35921" dir="2700000" algn="ctr" rotWithShape="0">
              <a:schemeClr val="bg2"/>
            </a:outerShdw>
            <a:softEdge rad="38100"/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6407" y="21358"/>
            <a:ext cx="8467725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Click to edit Master title style</a:t>
            </a: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6550" y="836613"/>
            <a:ext cx="8445500" cy="525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Click to edit Master text styles</a:t>
            </a:r>
          </a:p>
          <a:p>
            <a:pPr lvl="1"/>
            <a:r>
              <a:rPr lang="en-US" altLang="en-US" dirty="0" smtClean="0"/>
              <a:t>Second level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  <a:p>
            <a:pPr lvl="2"/>
            <a:endParaRPr lang="en-US" altLang="en-US" dirty="0" smtClean="0"/>
          </a:p>
          <a:p>
            <a:pPr lvl="2"/>
            <a:endParaRPr lang="en-US" altLang="en-US" dirty="0" smtClean="0"/>
          </a:p>
        </p:txBody>
      </p:sp>
      <p:sp>
        <p:nvSpPr>
          <p:cNvPr id="1031" name="Text Box 18"/>
          <p:cNvSpPr txBox="1">
            <a:spLocks noChangeArrowheads="1"/>
          </p:cNvSpPr>
          <p:nvPr userDrawn="1"/>
        </p:nvSpPr>
        <p:spPr bwMode="auto">
          <a:xfrm>
            <a:off x="2771800" y="6259378"/>
            <a:ext cx="601025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en-US" altLang="ko-KR" sz="1200" b="1" dirty="0" smtClean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Communications Lab.</a:t>
            </a:r>
            <a:r>
              <a:rPr lang="en-US" altLang="ko-KR" sz="1200" b="1" baseline="0" dirty="0" smtClean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 (Fall 2017)</a:t>
            </a:r>
          </a:p>
          <a:p>
            <a:pPr algn="r" eaLnBrk="1" hangingPunct="1">
              <a:spcBef>
                <a:spcPct val="50000"/>
              </a:spcBef>
              <a:defRPr/>
            </a:pPr>
            <a:r>
              <a:rPr lang="en-US" altLang="ko-KR" sz="1200" b="1" baseline="0" dirty="0" smtClean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Department of Electronic and Electrical Engineering, </a:t>
            </a:r>
            <a:r>
              <a:rPr lang="en-US" altLang="ko-KR" sz="1200" b="1" baseline="0" dirty="0" err="1" smtClean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Ewha</a:t>
            </a:r>
            <a:r>
              <a:rPr lang="en-US" altLang="ko-KR" sz="1200" b="1" baseline="0" dirty="0" smtClean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 </a:t>
            </a:r>
            <a:r>
              <a:rPr lang="en-US" altLang="ko-KR" sz="1200" b="1" baseline="0" dirty="0" err="1" smtClean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Womans</a:t>
            </a:r>
            <a:r>
              <a:rPr lang="en-US" altLang="ko-KR" sz="1200" b="1" baseline="0" dirty="0" smtClean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 University</a:t>
            </a:r>
            <a:endParaRPr lang="en-US" altLang="ko-KR" sz="1200" b="1" dirty="0" smtClean="0">
              <a:solidFill>
                <a:schemeClr val="bg1"/>
              </a:solidFill>
              <a:latin typeface="이화체" pitchFamily="2" charset="-127"/>
              <a:ea typeface="이화체" pitchFamily="2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3" r:id="rId2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SzPct val="70000"/>
        <a:buFont typeface="Wingdings" pitchFamily="2" charset="2"/>
        <a:buChar char="l"/>
        <a:defRPr sz="16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SzPct val="7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728" y="3068960"/>
            <a:ext cx="7772400" cy="650777"/>
          </a:xfrm>
        </p:spPr>
        <p:txBody>
          <a:bodyPr anchor="ctr" anchorCtr="0">
            <a:noAutofit/>
          </a:bodyPr>
          <a:lstStyle/>
          <a:p>
            <a:pPr>
              <a:defRPr/>
            </a:pPr>
            <a:r>
              <a:rPr lang="en-US" altLang="ko-KR" sz="2800" dirty="0" smtClean="0">
                <a:ea typeface="굴림" pitchFamily="50" charset="-127"/>
              </a:rPr>
              <a:t>FM</a:t>
            </a:r>
            <a:endParaRPr lang="ko-KR" altLang="en-US" sz="28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36688" y="4077072"/>
            <a:ext cx="6400800" cy="1391866"/>
          </a:xfrm>
        </p:spPr>
        <p:txBody>
          <a:bodyPr/>
          <a:lstStyle/>
          <a:p>
            <a:pPr>
              <a:defRPr/>
            </a:pPr>
            <a:r>
              <a:rPr lang="en-US" altLang="ko-K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1475043</a:t>
            </a:r>
          </a:p>
          <a:p>
            <a:pPr>
              <a:defRPr/>
            </a:pPr>
            <a:r>
              <a:rPr lang="ko-KR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이효림</a:t>
            </a:r>
            <a:endParaRPr lang="en-US" altLang="ko-KR" sz="2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defRPr/>
            </a:pPr>
            <a:r>
              <a:rPr lang="en-US" altLang="ko-KR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hyoruim@gmail.com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27424" y="5373216"/>
            <a:ext cx="54193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Department of Electronic </a:t>
            </a:r>
            <a:r>
              <a:rPr lang="en-US" altLang="ko-KR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and Electrical </a:t>
            </a:r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Engineering</a:t>
            </a:r>
          </a:p>
          <a:p>
            <a:pPr algn="ctr">
              <a:defRPr/>
            </a:pPr>
            <a:r>
              <a:rPr lang="en-US" altLang="ko-KR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Ewha</a:t>
            </a:r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Womans</a:t>
            </a:r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University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Characteristics of FM and AM</a:t>
            </a:r>
            <a:endParaRPr kumimoji="1"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kumimoji="1" lang="en-US" altLang="ko-KR" dirty="0"/>
              <a:t>Frequency modulation (FM) is the encoding of information in a carrier wave by varying the instantaneous frequency of the wave. </a:t>
            </a:r>
          </a:p>
          <a:p>
            <a:pPr algn="just"/>
            <a:r>
              <a:rPr kumimoji="1" lang="en-US" altLang="ko-KR" dirty="0"/>
              <a:t>A</a:t>
            </a:r>
            <a:r>
              <a:rPr kumimoji="1" lang="en-US" altLang="ko-KR" dirty="0" smtClean="0"/>
              <a:t>mplitude modulation(AM), the</a:t>
            </a:r>
            <a:r>
              <a:rPr kumimoji="1" lang="en-US" altLang="ko-KR" dirty="0"/>
              <a:t> amplitude of the carrier wave varies, while the frequency remains constant.</a:t>
            </a:r>
            <a:endParaRPr kumimoji="1" lang="ko-KR" altLang="en-US" dirty="0"/>
          </a:p>
          <a:p>
            <a:endParaRPr kumimoji="1" lang="ko-KR" altLang="en-US" dirty="0"/>
          </a:p>
        </p:txBody>
      </p:sp>
      <p:pic>
        <p:nvPicPr>
          <p:cNvPr id="4" name="내용 개체 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87399" y="2708920"/>
            <a:ext cx="3814003" cy="2974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9530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smtClean="0"/>
              <a:t>2</a:t>
            </a:r>
            <a:r>
              <a:rPr kumimoji="1" lang="en-US" altLang="ko-KR" dirty="0" smtClean="0"/>
              <a:t>. </a:t>
            </a:r>
            <a:r>
              <a:rPr kumimoji="1" lang="en-US" altLang="ko-KR" smtClean="0"/>
              <a:t>FM signal</a:t>
            </a:r>
            <a:endParaRPr kumimoji="1"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 smtClean="0"/>
              <a:t>When the amplitude of the original signal is high, the </a:t>
            </a:r>
            <a:r>
              <a:rPr kumimoji="1" lang="en-US" altLang="ko-KR" dirty="0"/>
              <a:t>frequency of the modulated signal will </a:t>
            </a:r>
            <a:r>
              <a:rPr kumimoji="1" lang="en-US" altLang="ko-KR" dirty="0" smtClean="0"/>
              <a:t>be increased.</a:t>
            </a:r>
            <a:r>
              <a:rPr kumimoji="1" lang="ko-KR" altLang="en-US" dirty="0" smtClean="0"/>
              <a:t> </a:t>
            </a:r>
            <a:r>
              <a:rPr kumimoji="1" lang="en-US" altLang="ko-KR" dirty="0" smtClean="0"/>
              <a:t>Also the frequency of the modulated signal decreases when the amplitude of the original signal decreases.</a:t>
            </a:r>
            <a:endParaRPr kumimoji="1" lang="ko-KR" altLang="en-US" dirty="0"/>
          </a:p>
        </p:txBody>
      </p:sp>
      <p:grpSp>
        <p:nvGrpSpPr>
          <p:cNvPr id="14" name="그룹 13"/>
          <p:cNvGrpSpPr/>
          <p:nvPr/>
        </p:nvGrpSpPr>
        <p:grpSpPr>
          <a:xfrm>
            <a:off x="1798898" y="2996952"/>
            <a:ext cx="5520804" cy="2365914"/>
            <a:chOff x="-12700" y="1630801"/>
            <a:chExt cx="9144000" cy="3918618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2700" y="1630801"/>
              <a:ext cx="9144000" cy="2374263"/>
            </a:xfrm>
            <a:prstGeom prst="rect">
              <a:avLst/>
            </a:prstGeom>
          </p:spPr>
        </p:pic>
        <p:grpSp>
          <p:nvGrpSpPr>
            <p:cNvPr id="13" name="그룹 12"/>
            <p:cNvGrpSpPr/>
            <p:nvPr/>
          </p:nvGrpSpPr>
          <p:grpSpPr>
            <a:xfrm>
              <a:off x="294035" y="3682843"/>
              <a:ext cx="8555930" cy="1866576"/>
              <a:chOff x="336550" y="2476662"/>
              <a:chExt cx="8555930" cy="1866576"/>
            </a:xfrm>
          </p:grpSpPr>
          <p:pic>
            <p:nvPicPr>
              <p:cNvPr id="5" name="그림 4"/>
              <p:cNvPicPr>
                <a:picLocks noChangeAspect="1"/>
              </p:cNvPicPr>
              <p:nvPr/>
            </p:nvPicPr>
            <p:blipFill rotWithShape="1">
              <a:blip r:embed="rId3">
                <a:alphaModFix/>
              </a:blip>
              <a:srcRect l="2339" r="87567"/>
              <a:stretch/>
            </p:blipFill>
            <p:spPr>
              <a:xfrm>
                <a:off x="336550" y="2476662"/>
                <a:ext cx="923082" cy="1866576"/>
              </a:xfrm>
              <a:prstGeom prst="rect">
                <a:avLst/>
              </a:prstGeom>
            </p:spPr>
          </p:pic>
          <p:pic>
            <p:nvPicPr>
              <p:cNvPr id="7" name="그림 6"/>
              <p:cNvPicPr>
                <a:picLocks noChangeAspect="1"/>
              </p:cNvPicPr>
              <p:nvPr/>
            </p:nvPicPr>
            <p:blipFill rotWithShape="1">
              <a:blip r:embed="rId3">
                <a:alphaModFix/>
              </a:blip>
              <a:srcRect l="47088" r="29288"/>
              <a:stretch/>
            </p:blipFill>
            <p:spPr>
              <a:xfrm>
                <a:off x="5724128" y="2476662"/>
                <a:ext cx="2160240" cy="1866576"/>
              </a:xfrm>
              <a:prstGeom prst="rect">
                <a:avLst/>
              </a:prstGeom>
            </p:spPr>
          </p:pic>
          <p:pic>
            <p:nvPicPr>
              <p:cNvPr id="8" name="그림 7"/>
              <p:cNvPicPr>
                <a:picLocks noChangeAspect="1"/>
              </p:cNvPicPr>
              <p:nvPr/>
            </p:nvPicPr>
            <p:blipFill rotWithShape="1">
              <a:blip r:embed="rId4">
                <a:alphaModFix/>
              </a:blip>
              <a:srcRect r="72707"/>
              <a:stretch/>
            </p:blipFill>
            <p:spPr>
              <a:xfrm>
                <a:off x="1259632" y="2476662"/>
                <a:ext cx="2232248" cy="1832668"/>
              </a:xfrm>
              <a:prstGeom prst="rect">
                <a:avLst/>
              </a:prstGeom>
            </p:spPr>
          </p:pic>
          <p:pic>
            <p:nvPicPr>
              <p:cNvPr id="9" name="그림 8"/>
              <p:cNvPicPr>
                <a:picLocks noChangeAspect="1"/>
              </p:cNvPicPr>
              <p:nvPr/>
            </p:nvPicPr>
            <p:blipFill rotWithShape="1">
              <a:blip r:embed="rId4">
                <a:alphaModFix/>
              </a:blip>
              <a:srcRect l="62510" r="25164"/>
              <a:stretch/>
            </p:blipFill>
            <p:spPr>
              <a:xfrm>
                <a:off x="7884368" y="2476662"/>
                <a:ext cx="1008112" cy="1832668"/>
              </a:xfrm>
              <a:prstGeom prst="rect">
                <a:avLst/>
              </a:prstGeom>
            </p:spPr>
          </p:pic>
          <p:pic>
            <p:nvPicPr>
              <p:cNvPr id="10" name="그림 9"/>
              <p:cNvPicPr>
                <a:picLocks noChangeAspect="1"/>
              </p:cNvPicPr>
              <p:nvPr/>
            </p:nvPicPr>
            <p:blipFill rotWithShape="1">
              <a:blip r:embed="rId3">
                <a:alphaModFix/>
              </a:blip>
              <a:srcRect l="2363" r="85825"/>
              <a:stretch/>
            </p:blipFill>
            <p:spPr>
              <a:xfrm>
                <a:off x="3491880" y="2476662"/>
                <a:ext cx="1080120" cy="1866576"/>
              </a:xfrm>
              <a:prstGeom prst="rect">
                <a:avLst/>
              </a:prstGeom>
            </p:spPr>
          </p:pic>
          <p:pic>
            <p:nvPicPr>
              <p:cNvPr id="11" name="그림 10"/>
              <p:cNvPicPr>
                <a:picLocks noChangeAspect="1"/>
              </p:cNvPicPr>
              <p:nvPr/>
            </p:nvPicPr>
            <p:blipFill rotWithShape="1">
              <a:blip r:embed="rId4">
                <a:alphaModFix/>
              </a:blip>
              <a:srcRect l="25481" r="60432"/>
              <a:stretch/>
            </p:blipFill>
            <p:spPr>
              <a:xfrm>
                <a:off x="4572000" y="2476662"/>
                <a:ext cx="1152128" cy="18326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8775636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ORDWRAP" val="0"/>
  <p:tag name="DEFAULTWIDTH" val="483"/>
  <p:tag name="DEFAULTHEIGHT" val="392"/>
  <p:tag name="FONTSIZE" val="10"/>
  <p:tag name="PREAMBLE" val="\documentclass{article}&#10;\pagestyle{empty}&#10;\usepackage{xspace,amssymb,amsfonts,amsmath}&#10;\usepackage{color}&#10;\usepackage{TeX4PPT}&#10;"/>
  <p:tag name="MAGPC" val="200"/>
</p:tagLst>
</file>

<file path=ppt/theme/theme1.xml><?xml version="1.0" encoding="utf-8"?>
<a:theme xmlns:a="http://schemas.openxmlformats.org/drawingml/2006/main" name="LTS4template">
  <a:themeElements>
    <a:clrScheme name="LTS4template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LTS4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TS4template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TS4template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11520</TotalTime>
  <Words>63</Words>
  <Application>Microsoft Macintosh PowerPoint</Application>
  <PresentationFormat>화면 슬라이드 쇼(4:3)</PresentationFormat>
  <Paragraphs>11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굴림</vt:lpstr>
      <vt:lpstr>이화체</vt:lpstr>
      <vt:lpstr>Wingdings</vt:lpstr>
      <vt:lpstr>Arial</vt:lpstr>
      <vt:lpstr>LTS4template</vt:lpstr>
      <vt:lpstr>FM</vt:lpstr>
      <vt:lpstr>1. Characteristics of FM and AM</vt:lpstr>
      <vt:lpstr>2. FM signal</vt:lpstr>
    </vt:vector>
  </TitlesOfParts>
  <Company>EPFL</Company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frossard</dc:creator>
  <cp:lastModifiedBy>이효림</cp:lastModifiedBy>
  <cp:revision>513</cp:revision>
  <cp:lastPrinted>2012-02-24T14:58:28Z</cp:lastPrinted>
  <dcterms:created xsi:type="dcterms:W3CDTF">2006-08-12T12:19:02Z</dcterms:created>
  <dcterms:modified xsi:type="dcterms:W3CDTF">2017-09-27T00:39:38Z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