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6"/>
  </p:notesMasterIdLst>
  <p:handoutMasterIdLst>
    <p:handoutMasterId r:id="rId7"/>
  </p:handoutMasterIdLst>
  <p:sldIdLst>
    <p:sldId id="317" r:id="rId2"/>
    <p:sldId id="322" r:id="rId3"/>
    <p:sldId id="324" r:id="rId4"/>
    <p:sldId id="326" r:id="rId5"/>
  </p:sldIdLst>
  <p:sldSz cx="9144000" cy="6858000" type="screen4x3"/>
  <p:notesSz cx="7315200" cy="9601200"/>
  <p:custDataLst>
    <p:tags r:id="rId8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00"/>
    <a:srgbClr val="FF0000"/>
    <a:srgbClr val="6699FF"/>
    <a:srgbClr val="000066"/>
    <a:srgbClr val="FF3300"/>
    <a:srgbClr val="0033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09" autoAdjust="0"/>
    <p:restoredTop sz="94775" autoAdjust="0"/>
  </p:normalViewPr>
  <p:slideViewPr>
    <p:cSldViewPr snapToObjects="1">
      <p:cViewPr>
        <p:scale>
          <a:sx n="60" d="100"/>
          <a:sy n="60" d="100"/>
        </p:scale>
        <p:origin x="192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5F767509-F31D-4257-8110-ED0F5B2FC2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783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66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1ADD2597-761D-4D78-923C-A67F4CCC4C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28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53977"/>
            <a:ext cx="7772400" cy="835063"/>
          </a:xfrm>
        </p:spPr>
        <p:txBody>
          <a:bodyPr>
            <a:normAutofit/>
          </a:bodyPr>
          <a:lstStyle>
            <a:lvl1pPr algn="ctr">
              <a:defRPr sz="5400" spc="-150">
                <a:solidFill>
                  <a:srgbClr val="006600"/>
                </a:solidFill>
                <a:latin typeface="이화체" pitchFamily="2" charset="-127"/>
                <a:ea typeface="이화체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479" y="393305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이화체" pitchFamily="2" charset="-127"/>
                <a:ea typeface="이화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</a:t>
            </a:r>
            <a:r>
              <a:rPr lang="ko-KR" altLang="en-US" dirty="0"/>
              <a:t>부제목 스타일 편집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23574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2536" y="2711646"/>
            <a:ext cx="3175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539" y="20822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36550" y="836613"/>
            <a:ext cx="8445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altLang="en-US" noProof="0" dirty="0"/>
              <a:t>Click to edit Master text styles</a:t>
            </a:r>
          </a:p>
          <a:p>
            <a:pPr lvl="1"/>
            <a:r>
              <a:rPr lang="en-US" altLang="en-US" noProof="0" dirty="0"/>
              <a:t>Second level</a:t>
            </a:r>
            <a:endParaRPr lang="en-US" altLang="ko-KR" noProof="0" dirty="0"/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2"/>
            <a:endParaRPr lang="en-US" altLang="en-US" noProof="0" dirty="0"/>
          </a:p>
          <a:p>
            <a:pPr lvl="2"/>
            <a:endParaRPr lang="en-US" altLang="en-US" noProof="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0" y="-11980"/>
            <a:ext cx="9144000" cy="7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093296"/>
            <a:ext cx="9180512" cy="759906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80000"/>
              </a:schemeClr>
            </a:glow>
            <a:outerShdw dist="35921" dir="2700000" algn="ctr" rotWithShape="0">
              <a:schemeClr val="bg2"/>
            </a:outerShdw>
            <a:softEdge rad="3810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407" y="21358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836613"/>
            <a:ext cx="8445500" cy="525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2771800" y="6259378"/>
            <a:ext cx="60102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Communications Lab.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(Fall 2016)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Department of Electronics Engineering,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Ewha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Womans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University</a:t>
            </a:r>
            <a:endParaRPr lang="en-US" altLang="ko-KR" sz="1200" b="1" dirty="0">
              <a:solidFill>
                <a:schemeClr val="bg1"/>
              </a:solidFill>
              <a:latin typeface="이화체" pitchFamily="2" charset="-127"/>
              <a:ea typeface="이화체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3" r:id="rId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28" y="3068960"/>
            <a:ext cx="7772400" cy="650777"/>
          </a:xfrm>
        </p:spPr>
        <p:txBody>
          <a:bodyPr anchor="ctr" anchorCtr="0">
            <a:noAutofit/>
          </a:bodyPr>
          <a:lstStyle/>
          <a:p>
            <a:pPr>
              <a:defRPr/>
            </a:pPr>
            <a:r>
              <a:rPr lang="en-US" altLang="ko-KR" sz="4000" dirty="0">
                <a:latin typeface="+mj-lt"/>
              </a:rPr>
              <a:t>PSK</a:t>
            </a:r>
            <a:endParaRPr lang="ko-KR" altLang="en-US" sz="4000" dirty="0">
              <a:latin typeface="+mj-lt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36688" y="4077072"/>
            <a:ext cx="6400800" cy="1391866"/>
          </a:xfrm>
        </p:spPr>
        <p:txBody>
          <a:bodyPr/>
          <a:lstStyle/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1375003</a:t>
            </a:r>
          </a:p>
          <a:p>
            <a:pPr>
              <a:defRPr/>
            </a:pPr>
            <a:r>
              <a:rPr lang="en-US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KyungSil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Kim</a:t>
            </a:r>
          </a:p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ks_tina@naver.com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7424" y="5373216"/>
            <a:ext cx="5419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Electronics Engineering</a:t>
            </a:r>
          </a:p>
          <a:p>
            <a:pPr algn="ctr">
              <a:defRPr/>
            </a:pP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Ewha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Womans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University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0822"/>
            <a:ext cx="9144000" cy="671874"/>
          </a:xfrm>
        </p:spPr>
        <p:txBody>
          <a:bodyPr/>
          <a:lstStyle/>
          <a:p>
            <a:r>
              <a:rPr lang="en-US" altLang="ko-KR" dirty="0"/>
              <a:t>What is the phase difference between sin &amp; cos waves?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dirty="0"/>
                  <a:t> = 1</a:t>
                </a:r>
              </a:p>
              <a:p>
                <a:r>
                  <a:rPr lang="en-US" altLang="ko-KR" dirty="0"/>
                  <a:t>Phase difference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9" t="-2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phase difference sin cos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92" y="2902521"/>
            <a:ext cx="6951618" cy="304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58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539" y="44624"/>
            <a:ext cx="8467725" cy="576064"/>
          </a:xfrm>
        </p:spPr>
        <p:txBody>
          <a:bodyPr/>
          <a:lstStyle/>
          <a:p>
            <a:r>
              <a:rPr lang="en-US" altLang="ko-KR" dirty="0"/>
              <a:t>Define your BPSK signal for 0 phase shift.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96" y="1412776"/>
            <a:ext cx="7265807" cy="2854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4991694"/>
                <a:ext cx="5326202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𝑝𝑠𝑘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⁡(2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991694"/>
                <a:ext cx="5326202" cy="397866"/>
              </a:xfrm>
              <a:prstGeom prst="rect">
                <a:avLst/>
              </a:prstGeom>
              <a:blipFill>
                <a:blip r:embed="rId3"/>
                <a:stretch>
                  <a:fillRect l="-802" r="-1489" b="-26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033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제목 1"/>
              <p:cNvSpPr>
                <a:spLocks noGrp="1"/>
              </p:cNvSpPr>
              <p:nvPr>
                <p:ph type="title"/>
              </p:nvPr>
            </p:nvSpPr>
            <p:spPr>
              <a:xfrm>
                <a:off x="60539" y="-27384"/>
                <a:ext cx="8467725" cy="815791"/>
              </a:xfrm>
            </p:spPr>
            <p:txBody>
              <a:bodyPr/>
              <a:lstStyle/>
              <a:p>
                <a:r>
                  <a:rPr lang="en-US" altLang="ko-KR" dirty="0"/>
                  <a:t>Draw a modulated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𝒑𝒔𝒌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for </a:t>
                </a:r>
                <a:br>
                  <a:rPr lang="en-US" altLang="ko-KR" dirty="0"/>
                </a:br>
                <a:r>
                  <a:rPr lang="en-US" altLang="ko-KR" dirty="0"/>
                  <a:t>P(t) = {1, 1, −1, −1, 1, −1}.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539" y="-27384"/>
                <a:ext cx="8467725" cy="815791"/>
              </a:xfrm>
              <a:blipFill>
                <a:blip r:embed="rId2"/>
                <a:stretch>
                  <a:fillRect l="-1152" t="-11278" b="-18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6" b="16612"/>
          <a:stretch/>
        </p:blipFill>
        <p:spPr>
          <a:xfrm>
            <a:off x="0" y="3573015"/>
            <a:ext cx="9144000" cy="1656185"/>
          </a:xfrm>
          <a:prstGeom prst="rect">
            <a:avLst/>
          </a:prstGeom>
        </p:spPr>
      </p:pic>
      <p:pic>
        <p:nvPicPr>
          <p:cNvPr id="2054" name="Picture 6" descr="BPSK signal for 0 phase shift에 대한 이미지 검색결과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1" r="45826" b="61996"/>
          <a:stretch/>
        </p:blipFill>
        <p:spPr bwMode="auto">
          <a:xfrm>
            <a:off x="155575" y="1176030"/>
            <a:ext cx="8779620" cy="218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연결선 12"/>
          <p:cNvCxnSpPr/>
          <p:nvPr/>
        </p:nvCxnSpPr>
        <p:spPr>
          <a:xfrm>
            <a:off x="3131840" y="788407"/>
            <a:ext cx="0" cy="5304889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619672" y="788407"/>
            <a:ext cx="0" cy="5304889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572000" y="788407"/>
            <a:ext cx="0" cy="5304889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6012160" y="808096"/>
            <a:ext cx="0" cy="5304889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7524328" y="808096"/>
            <a:ext cx="0" cy="5304889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5576" y="692696"/>
            <a:ext cx="288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1</a:t>
            </a:r>
            <a:endParaRPr lang="ko-KR" altLang="en-US" sz="4000" dirty="0"/>
          </a:p>
        </p:txBody>
      </p:sp>
      <p:sp>
        <p:nvSpPr>
          <p:cNvPr id="25" name="TextBox 24"/>
          <p:cNvSpPr txBox="1"/>
          <p:nvPr/>
        </p:nvSpPr>
        <p:spPr>
          <a:xfrm>
            <a:off x="2123729" y="692696"/>
            <a:ext cx="288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1</a:t>
            </a:r>
            <a:endParaRPr lang="ko-KR" altLang="en-US" sz="4000" dirty="0"/>
          </a:p>
        </p:txBody>
      </p:sp>
      <p:sp>
        <p:nvSpPr>
          <p:cNvPr id="26" name="TextBox 25"/>
          <p:cNvSpPr txBox="1"/>
          <p:nvPr/>
        </p:nvSpPr>
        <p:spPr>
          <a:xfrm>
            <a:off x="3563888" y="692696"/>
            <a:ext cx="6480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-1</a:t>
            </a:r>
            <a:endParaRPr lang="ko-KR" altLang="en-US" sz="4000" dirty="0"/>
          </a:p>
        </p:txBody>
      </p:sp>
      <p:sp>
        <p:nvSpPr>
          <p:cNvPr id="27" name="TextBox 26"/>
          <p:cNvSpPr txBox="1"/>
          <p:nvPr/>
        </p:nvSpPr>
        <p:spPr>
          <a:xfrm>
            <a:off x="4929953" y="692696"/>
            <a:ext cx="6480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-1</a:t>
            </a:r>
            <a:endParaRPr lang="ko-KR" altLang="en-US" sz="4000" dirty="0"/>
          </a:p>
        </p:txBody>
      </p:sp>
      <p:sp>
        <p:nvSpPr>
          <p:cNvPr id="28" name="TextBox 27"/>
          <p:cNvSpPr txBox="1"/>
          <p:nvPr/>
        </p:nvSpPr>
        <p:spPr>
          <a:xfrm>
            <a:off x="7845637" y="692696"/>
            <a:ext cx="6480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-1</a:t>
            </a:r>
            <a:endParaRPr lang="ko-KR" altLang="en-US" sz="4000" dirty="0"/>
          </a:p>
        </p:txBody>
      </p:sp>
      <p:sp>
        <p:nvSpPr>
          <p:cNvPr id="29" name="TextBox 28"/>
          <p:cNvSpPr txBox="1"/>
          <p:nvPr/>
        </p:nvSpPr>
        <p:spPr>
          <a:xfrm>
            <a:off x="6516216" y="692696"/>
            <a:ext cx="288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1</a:t>
            </a:r>
            <a:endParaRPr lang="ko-KR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-32265" y="1788205"/>
                <a:ext cx="98306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36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3600" b="1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3600" b="1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sz="3600" b="1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3600" dirty="0">
                    <a:solidFill>
                      <a:srgbClr val="0000CC"/>
                    </a:solidFill>
                  </a:rPr>
                  <a:t> </a:t>
                </a:r>
                <a:endParaRPr lang="ko-KR" altLang="en-US" sz="3600" dirty="0">
                  <a:solidFill>
                    <a:srgbClr val="0000CC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265" y="1788205"/>
                <a:ext cx="98306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75864" y="3969167"/>
                <a:ext cx="888033" cy="695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sz="3600" b="1" i="1">
                            <a:latin typeface="Cambria Math" panose="02040503050406030204" pitchFamily="18" charset="0"/>
                          </a:rPr>
                          <m:t>𝒑𝒔𝒌</m:t>
                        </m:r>
                      </m:sub>
                    </m:sSub>
                    <m:r>
                      <a:rPr lang="en-US" altLang="ko-KR" sz="3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36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sz="3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3600" dirty="0"/>
                  <a:t> </a:t>
                </a:r>
                <a:endParaRPr lang="ko-KR" altLang="en-US" sz="36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4" y="3969167"/>
                <a:ext cx="888033" cy="695960"/>
              </a:xfrm>
              <a:prstGeom prst="rect">
                <a:avLst/>
              </a:prstGeom>
              <a:blipFill>
                <a:blip r:embed="rId6"/>
                <a:stretch>
                  <a:fillRect r="-671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22964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ORDWRAP" val="0"/>
  <p:tag name="DEFAULTWIDTH" val="483"/>
  <p:tag name="DEFAULTHEIGHT" val="392"/>
  <p:tag name="FONTSIZE" val="10"/>
  <p:tag name="PREAMBLE" val="\documentclass{article}&#10;\pagestyle{empty}&#10;\usepackage{xspace,amssymb,amsfonts,amsmath}&#10;\usepackage{color}&#10;\usepackage{TeX4PPT}&#10;"/>
  <p:tag name="MAGPC" val="200"/>
</p:tagLst>
</file>

<file path=ppt/theme/theme1.xml><?xml version="1.0" encoding="utf-8"?>
<a:theme xmlns:a="http://schemas.openxmlformats.org/drawingml/2006/main" name="LTS4template">
  <a:themeElements>
    <a:clrScheme name="LTS4templa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LTS4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TS4templa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S4templa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11331</TotalTime>
  <Words>49</Words>
  <Application>Microsoft Office PowerPoint</Application>
  <PresentationFormat>화면 슬라이드 쇼(4:3)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굴림</vt:lpstr>
      <vt:lpstr>이화체</vt:lpstr>
      <vt:lpstr>Arial</vt:lpstr>
      <vt:lpstr>Cambria Math</vt:lpstr>
      <vt:lpstr>Wingdings</vt:lpstr>
      <vt:lpstr>LTS4template</vt:lpstr>
      <vt:lpstr>PSK</vt:lpstr>
      <vt:lpstr>What is the phase difference between sin &amp; cos waves?</vt:lpstr>
      <vt:lpstr>Define your BPSK signal for 0 phase shift.</vt:lpstr>
      <vt:lpstr>Draw a modulated signal S_psk (t) for  P(t) = {1, 1, −1, −1, 1, −1}.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frossard</dc:creator>
  <cp:lastModifiedBy>Dongho</cp:lastModifiedBy>
  <cp:revision>527</cp:revision>
  <cp:lastPrinted>2012-02-24T14:58:28Z</cp:lastPrinted>
  <dcterms:created xsi:type="dcterms:W3CDTF">2006-08-12T12:19:02Z</dcterms:created>
  <dcterms:modified xsi:type="dcterms:W3CDTF">2016-11-14T02:07:52Z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