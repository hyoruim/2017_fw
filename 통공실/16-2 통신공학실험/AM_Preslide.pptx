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1"/>
  </p:notesMasterIdLst>
  <p:handoutMasterIdLst>
    <p:handoutMasterId r:id="rId12"/>
  </p:handoutMasterIdLst>
  <p:sldIdLst>
    <p:sldId id="317" r:id="rId2"/>
    <p:sldId id="322" r:id="rId3"/>
    <p:sldId id="323" r:id="rId4"/>
    <p:sldId id="325" r:id="rId5"/>
    <p:sldId id="327" r:id="rId6"/>
    <p:sldId id="328" r:id="rId7"/>
    <p:sldId id="329" r:id="rId8"/>
    <p:sldId id="324" r:id="rId9"/>
    <p:sldId id="326" r:id="rId10"/>
  </p:sldIdLst>
  <p:sldSz cx="9144000" cy="6858000" type="screen4x3"/>
  <p:notesSz cx="7315200" cy="9601200"/>
  <p:custDataLst>
    <p:tags r:id="rId13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0000"/>
    <a:srgbClr val="6699FF"/>
    <a:srgbClr val="000066"/>
    <a:srgbClr val="FF3300"/>
    <a:srgbClr val="0033CC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09" autoAdjust="0"/>
    <p:restoredTop sz="94775" autoAdjust="0"/>
  </p:normalViewPr>
  <p:slideViewPr>
    <p:cSldViewPr snapToObjects="1">
      <p:cViewPr varScale="1">
        <p:scale>
          <a:sx n="85" d="100"/>
          <a:sy n="85" d="100"/>
        </p:scale>
        <p:origin x="198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34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5F767509-F31D-4257-8110-ED0F5B2FC2B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37833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166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66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66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굴림" charset="-127"/>
                <a:cs typeface="Arial" charset="0"/>
              </a:defRPr>
            </a:lvl1pPr>
          </a:lstStyle>
          <a:p>
            <a:pPr>
              <a:defRPr/>
            </a:pPr>
            <a:fld id="{1ADD2597-761D-4D78-923C-A67F4CCC4C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428958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953977"/>
            <a:ext cx="7772400" cy="835063"/>
          </a:xfrm>
        </p:spPr>
        <p:txBody>
          <a:bodyPr>
            <a:normAutofit/>
          </a:bodyPr>
          <a:lstStyle>
            <a:lvl1pPr algn="ctr">
              <a:defRPr sz="5400" spc="-150">
                <a:solidFill>
                  <a:srgbClr val="006600"/>
                </a:solidFill>
                <a:latin typeface="이화체" pitchFamily="2" charset="-127"/>
                <a:ea typeface="이화체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41479" y="393305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이화체" pitchFamily="2" charset="-127"/>
                <a:ea typeface="이화체" pitchFamily="2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</a:t>
            </a:r>
            <a:r>
              <a:rPr lang="ko-KR" altLang="en-US" dirty="0"/>
              <a:t>부제목 스타일 편집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32656"/>
            <a:ext cx="9144000" cy="235743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252536" y="2711646"/>
            <a:ext cx="3175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72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60539" y="20822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336550" y="836613"/>
            <a:ext cx="8445500" cy="514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altLang="en-US" noProof="0" dirty="0"/>
              <a:t>Click to edit Master text styles</a:t>
            </a:r>
          </a:p>
          <a:p>
            <a:pPr lvl="1"/>
            <a:r>
              <a:rPr lang="en-US" altLang="en-US" noProof="0" dirty="0"/>
              <a:t>Second level</a:t>
            </a:r>
            <a:endParaRPr lang="en-US" altLang="ko-KR" noProof="0" dirty="0"/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2"/>
            <a:endParaRPr lang="en-US" altLang="en-US" noProof="0" dirty="0"/>
          </a:p>
          <a:p>
            <a:pPr lvl="2"/>
            <a:endParaRPr lang="en-US" altLang="en-US" noProof="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0" y="-11980"/>
            <a:ext cx="9144000" cy="7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84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6093296"/>
            <a:ext cx="9180512" cy="759906"/>
          </a:xfrm>
          <a:prstGeom prst="rect">
            <a:avLst/>
          </a:prstGeom>
          <a:noFill/>
          <a:ln>
            <a:noFill/>
          </a:ln>
          <a:effectLst>
            <a:glow>
              <a:schemeClr val="accent1">
                <a:alpha val="80000"/>
              </a:schemeClr>
            </a:glow>
            <a:outerShdw dist="35921" dir="2700000" algn="ctr" rotWithShape="0">
              <a:schemeClr val="bg2"/>
            </a:outerShdw>
            <a:softEdge rad="38100"/>
          </a:effectLst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6407" y="21358"/>
            <a:ext cx="84677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6550" y="836613"/>
            <a:ext cx="8445500" cy="5256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  <a:endParaRPr lang="en-US" altLang="ko-KR" dirty="0"/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2"/>
            <a:endParaRPr lang="en-US" altLang="en-US" dirty="0"/>
          </a:p>
          <a:p>
            <a:pPr lvl="2"/>
            <a:endParaRPr lang="en-US" altLang="en-US" dirty="0"/>
          </a:p>
        </p:txBody>
      </p:sp>
      <p:sp>
        <p:nvSpPr>
          <p:cNvPr id="1031" name="Text Box 18"/>
          <p:cNvSpPr txBox="1">
            <a:spLocks noChangeArrowheads="1"/>
          </p:cNvSpPr>
          <p:nvPr userDrawn="1"/>
        </p:nvSpPr>
        <p:spPr bwMode="auto">
          <a:xfrm>
            <a:off x="2771800" y="6259378"/>
            <a:ext cx="60102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Communications Lab.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(Fall 2016)</a:t>
            </a:r>
          </a:p>
          <a:p>
            <a:pPr algn="r" eaLnBrk="1" hangingPunct="1">
              <a:spcBef>
                <a:spcPct val="50000"/>
              </a:spcBef>
              <a:defRPr/>
            </a:pP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Department of Electronics Engineering,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Ewha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</a:t>
            </a:r>
            <a:r>
              <a:rPr lang="en-US" altLang="ko-KR" sz="1200" b="1" baseline="0" dirty="0" err="1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Womans</a:t>
            </a:r>
            <a:r>
              <a:rPr lang="en-US" altLang="ko-KR" sz="1200" b="1" baseline="0" dirty="0">
                <a:solidFill>
                  <a:schemeClr val="bg1"/>
                </a:solidFill>
                <a:latin typeface="이화체" pitchFamily="2" charset="-127"/>
                <a:ea typeface="이화체" pitchFamily="2" charset="-127"/>
              </a:rPr>
              <a:t> University</a:t>
            </a:r>
            <a:endParaRPr lang="en-US" altLang="ko-KR" sz="1200" b="1" dirty="0">
              <a:solidFill>
                <a:schemeClr val="bg1"/>
              </a:solidFill>
              <a:latin typeface="이화체" pitchFamily="2" charset="-127"/>
              <a:ea typeface="이화체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3" r:id="rId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rgbClr val="0000CC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Font typeface="Arial" charset="0"/>
        <a:buChar char="–"/>
        <a:defRPr sz="20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0000"/>
        <a:buFont typeface="Wingdings" pitchFamily="2" charset="2"/>
        <a:buChar char="l"/>
        <a:defRPr sz="16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728" y="3068960"/>
            <a:ext cx="7772400" cy="650777"/>
          </a:xfrm>
        </p:spPr>
        <p:txBody>
          <a:bodyPr anchor="ctr" anchorCtr="0">
            <a:noAutofit/>
          </a:bodyPr>
          <a:lstStyle/>
          <a:p>
            <a:pPr>
              <a:defRPr/>
            </a:pPr>
            <a:r>
              <a:rPr lang="en-US" altLang="ko-KR" sz="4000" dirty="0">
                <a:latin typeface="+mj-lt"/>
              </a:rPr>
              <a:t>AM</a:t>
            </a:r>
            <a:endParaRPr lang="ko-KR" altLang="en-US" sz="4000" dirty="0">
              <a:latin typeface="+mj-lt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36688" y="4077072"/>
            <a:ext cx="6400800" cy="1391866"/>
          </a:xfrm>
        </p:spPr>
        <p:txBody>
          <a:bodyPr/>
          <a:lstStyle/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1375003</a:t>
            </a:r>
          </a:p>
          <a:p>
            <a:pPr>
              <a:defRPr/>
            </a:pPr>
            <a:r>
              <a:rPr lang="en-US" altLang="ko-KR" sz="18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KyungSil</a:t>
            </a: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Kim</a:t>
            </a:r>
          </a:p>
          <a:p>
            <a:pPr>
              <a:defRPr/>
            </a:pPr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ks_tina@naver.com</a:t>
            </a:r>
            <a:endParaRPr lang="ko-KR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7424" y="5373216"/>
            <a:ext cx="54193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of Electronics Engineering</a:t>
            </a:r>
          </a:p>
          <a:p>
            <a:pPr algn="ctr">
              <a:defRPr/>
            </a:pP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Ewha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Womans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University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Modulation &amp; Demodulation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Modulation</a:t>
            </a:r>
          </a:p>
          <a:p>
            <a:pPr lvl="1"/>
            <a:r>
              <a:rPr lang="en-US" altLang="ko-KR" dirty="0"/>
              <a:t>The process of combining the low-frequency signal with a very high-frequency radio wave (carrier wave). </a:t>
            </a:r>
          </a:p>
          <a:p>
            <a:pPr lvl="1"/>
            <a:r>
              <a:rPr lang="en-US" altLang="ko-KR" dirty="0"/>
              <a:t>The resultant wave is called modulated carrier wave.</a:t>
            </a:r>
          </a:p>
          <a:p>
            <a:pPr lvl="1"/>
            <a:r>
              <a:rPr lang="en-US" altLang="ko-KR" dirty="0"/>
              <a:t>This job is done at the transmitting station.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b="1" dirty="0"/>
              <a:t>Demodulation</a:t>
            </a:r>
          </a:p>
          <a:p>
            <a:pPr lvl="1"/>
            <a:r>
              <a:rPr lang="en-US" altLang="ko-KR" dirty="0"/>
              <a:t>The process of separating or recovering  signal from the modulated carrier wave.</a:t>
            </a:r>
          </a:p>
          <a:p>
            <a:pPr lvl="1"/>
            <a:r>
              <a:rPr lang="en-US" altLang="ko-KR" dirty="0"/>
              <a:t>Opposite of modulation and is performed at the receiving end.</a:t>
            </a:r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858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Which can be easily demodulated or not?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7"/>
          <a:stretch/>
        </p:blipFill>
        <p:spPr>
          <a:xfrm>
            <a:off x="36376" y="764704"/>
            <a:ext cx="7920000" cy="1769669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18"/>
          <a:stretch/>
        </p:blipFill>
        <p:spPr>
          <a:xfrm>
            <a:off x="0" y="2492896"/>
            <a:ext cx="7920000" cy="17986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15"/>
          <a:stretch/>
        </p:blipFill>
        <p:spPr>
          <a:xfrm>
            <a:off x="0" y="4324064"/>
            <a:ext cx="7920000" cy="176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83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Which can be easily demodulated or not?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7"/>
          <a:stretch/>
        </p:blipFill>
        <p:spPr>
          <a:xfrm>
            <a:off x="36376" y="764704"/>
            <a:ext cx="7920000" cy="1769669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18"/>
          <a:stretch/>
        </p:blipFill>
        <p:spPr>
          <a:xfrm>
            <a:off x="0" y="2492896"/>
            <a:ext cx="7920000" cy="179860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15"/>
          <a:stretch/>
        </p:blipFill>
        <p:spPr>
          <a:xfrm>
            <a:off x="0" y="4324064"/>
            <a:ext cx="7920000" cy="1769232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60539" y="764704"/>
            <a:ext cx="7895837" cy="172819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6"/>
          <p:cNvSpPr/>
          <p:nvPr/>
        </p:nvSpPr>
        <p:spPr>
          <a:xfrm>
            <a:off x="60539" y="2564904"/>
            <a:ext cx="7895837" cy="172819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956376" y="1569566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010778" y="3368172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altLang="ko-KR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301163" y="4524604"/>
            <a:ext cx="7367181" cy="1424676"/>
            <a:chOff x="301163" y="4524604"/>
            <a:chExt cx="7367181" cy="1424676"/>
          </a:xfrm>
        </p:grpSpPr>
        <p:cxnSp>
          <p:nvCxnSpPr>
            <p:cNvPr id="12" name="직선 연결선 11"/>
            <p:cNvCxnSpPr/>
            <p:nvPr/>
          </p:nvCxnSpPr>
          <p:spPr>
            <a:xfrm flipV="1">
              <a:off x="323528" y="4581128"/>
              <a:ext cx="7344816" cy="136815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flipH="1" flipV="1">
              <a:off x="301163" y="4524604"/>
              <a:ext cx="7344816" cy="136815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864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내용 개체 틀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97"/>
          <a:stretch/>
        </p:blipFill>
        <p:spPr bwMode="auto">
          <a:xfrm>
            <a:off x="36376" y="764704"/>
            <a:ext cx="7920000" cy="1769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Which can be easily demodulated or not?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60539" y="764704"/>
            <a:ext cx="7895837" cy="172819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956376" y="1569566"/>
            <a:ext cx="5693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9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Modulation index 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𝑚𝑜𝑑𝑢𝑙𝑎𝑡𝑖𝑜𝑛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𝑎𝑚𝑝𝑙𝑖𝑡𝑢𝑑𝑒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𝑐𝑎𝑟𝑟𝑖𝑒𝑟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𝑎𝑚𝑝𝑙𝑖𝑡𝑢𝑑𝑒</m:t>
                        </m:r>
                      </m:den>
                    </m:f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dirty="0"/>
                  <a:t>		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ko-KR" dirty="0"/>
                  <a:t> = 0.5</a:t>
                </a:r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10" name="내용 개체 틀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746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Which can be easily demodulated or not?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18"/>
          <a:stretch/>
        </p:blipFill>
        <p:spPr>
          <a:xfrm>
            <a:off x="0" y="2492896"/>
            <a:ext cx="7920000" cy="179860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60539" y="2564904"/>
            <a:ext cx="7895837" cy="1728192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010778" y="3368172"/>
            <a:ext cx="5693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altLang="ko-KR" sz="54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내용 개체 틀 1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Modulation index 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𝑚𝑜𝑑𝑢𝑙𝑎𝑡𝑖𝑜𝑛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𝑎𝑚𝑝𝑙𝑖𝑡𝑢𝑑𝑒</m:t>
                        </m:r>
                      </m:num>
                      <m:den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𝑐𝑎𝑟𝑟𝑖𝑒𝑟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𝑎𝑚𝑝𝑙𝑖𝑡𝑢𝑑𝑒</m:t>
                        </m:r>
                      </m:den>
                    </m:f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dirty="0"/>
                  <a:t>		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ko-KR" dirty="0"/>
                  <a:t> = 1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4" name="내용 개체 틀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645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Which can be easily demodulated or not?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15"/>
          <a:stretch/>
        </p:blipFill>
        <p:spPr>
          <a:xfrm>
            <a:off x="0" y="4324064"/>
            <a:ext cx="7920000" cy="1769232"/>
          </a:xfrm>
          <a:prstGeom prst="rect">
            <a:avLst/>
          </a:prstGeom>
        </p:spPr>
      </p:pic>
      <p:grpSp>
        <p:nvGrpSpPr>
          <p:cNvPr id="14" name="그룹 13"/>
          <p:cNvGrpSpPr/>
          <p:nvPr/>
        </p:nvGrpSpPr>
        <p:grpSpPr>
          <a:xfrm>
            <a:off x="301163" y="4524604"/>
            <a:ext cx="7367181" cy="1424676"/>
            <a:chOff x="301163" y="4524604"/>
            <a:chExt cx="7367181" cy="1424676"/>
          </a:xfrm>
        </p:grpSpPr>
        <p:cxnSp>
          <p:nvCxnSpPr>
            <p:cNvPr id="12" name="직선 연결선 11"/>
            <p:cNvCxnSpPr/>
            <p:nvPr/>
          </p:nvCxnSpPr>
          <p:spPr>
            <a:xfrm flipV="1">
              <a:off x="323528" y="4581128"/>
              <a:ext cx="7344816" cy="136815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flipH="1" flipV="1">
              <a:off x="301163" y="4524604"/>
              <a:ext cx="7344816" cy="136815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9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ko-KR" dirty="0"/>
                  <a:t>Modulation index µ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𝑚𝑜𝑑𝑢𝑙𝑎𝑡𝑖𝑜𝑛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𝑎𝑚𝑝𝑙𝑖𝑡𝑢𝑑𝑒</m:t>
                        </m:r>
                      </m:num>
                      <m:den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𝑐𝑎𝑟𝑟𝑖𝑒𝑟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𝑎𝑚𝑝𝑙𝑖𝑡𝑢𝑑𝑒</m:t>
                        </m:r>
                      </m:den>
                    </m:f>
                  </m:oMath>
                </a14:m>
                <a:endParaRPr lang="en-US" altLang="ko-KR" sz="2400" dirty="0"/>
              </a:p>
              <a:p>
                <a:pPr marL="0" indent="0">
                  <a:buNone/>
                </a:pPr>
                <a:r>
                  <a:rPr lang="en-US" altLang="ko-KR" dirty="0"/>
                  <a:t>		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.5</m:t>
                        </m:r>
                      </m:num>
                      <m:den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altLang="ko-KR" dirty="0"/>
                  <a:t> = 1.5</a:t>
                </a:r>
              </a:p>
              <a:p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Carrier exhibits phase reversal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0" name="내용 개체 틀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132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539" y="-27384"/>
            <a:ext cx="8467725" cy="815791"/>
          </a:xfrm>
        </p:spPr>
        <p:txBody>
          <a:bodyPr/>
          <a:lstStyle/>
          <a:p>
            <a:r>
              <a:rPr lang="en-US" altLang="ko-KR" dirty="0"/>
              <a:t>Roughly draw the resulting frequency </a:t>
            </a:r>
            <a:br>
              <a:rPr lang="en-US" altLang="ko-KR" dirty="0"/>
            </a:br>
            <a:r>
              <a:rPr lang="en-US" altLang="ko-KR" dirty="0"/>
              <a:t>components of AM modulated signal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𝑐𝑜𝑠</m:t>
                        </m:r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≫</m:t>
                    </m:r>
                    <m:r>
                      <m:rPr>
                        <m:sty m:val="p"/>
                      </m:rPr>
                      <a:rPr lang="el-GR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β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use the modulation property of the Fourier transform</a:t>
                </a:r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9" t="-2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588446"/>
            <a:ext cx="5706271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37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8661" l="0" r="100000">
                        <a14:foregroundMark x1="28254" y1="67857" x2="30794" y2="65179"/>
                        <a14:foregroundMark x1="12063" y1="80804" x2="14286" y2="37946"/>
                        <a14:foregroundMark x1="4762" y1="83929" x2="19683" y2="82589"/>
                        <a14:foregroundMark x1="4127" y1="99554" x2="8571" y2="84821"/>
                        <a14:foregroundMark x1="19206" y1="68304" x2="24286" y2="44196"/>
                        <a14:foregroundMark x1="23810" y1="82143" x2="39048" y2="68304"/>
                        <a14:foregroundMark x1="18730" y1="56250" x2="22540" y2="39286"/>
                        <a14:foregroundMark x1="28889" y1="88393" x2="35714" y2="84375"/>
                        <a14:foregroundMark x1="24603" y1="66518" x2="26825" y2="50000"/>
                        <a14:foregroundMark x1="26508" y1="67411" x2="28413" y2="52232"/>
                        <a14:foregroundMark x1="8095" y1="58482" x2="11587" y2="84821"/>
                        <a14:foregroundMark x1="6984" y1="86161" x2="10635" y2="64732"/>
                        <a14:foregroundMark x1="9365" y1="67857" x2="13016" y2="56250"/>
                        <a14:foregroundMark x1="794" y1="92857" x2="45397" y2="91964"/>
                        <a14:foregroundMark x1="46984" y1="21429" x2="47778" y2="90625"/>
                        <a14:foregroundMark x1="47460" y1="22768" x2="48254" y2="893"/>
                        <a14:foregroundMark x1="60317" y1="87054" x2="65714" y2="75893"/>
                        <a14:foregroundMark x1="61429" y1="79018" x2="66508" y2="58482"/>
                        <a14:foregroundMark x1="66825" y1="52679" x2="78571" y2="62500"/>
                        <a14:foregroundMark x1="51270" y1="87946" x2="66190" y2="90625"/>
                        <a14:foregroundMark x1="43492" y1="79464" x2="54603" y2="32143"/>
                        <a14:foregroundMark x1="45873" y1="7589" x2="53016" y2="20982"/>
                        <a14:foregroundMark x1="91587" y1="82143" x2="93175" y2="99107"/>
                        <a14:backgroundMark x1="4286" y1="6250" x2="3810" y2="41964"/>
                        <a14:backgroundMark x1="3492" y1="8036" x2="3968" y2="44643"/>
                        <a14:backgroundMark x1="8254" y1="15179" x2="3810" y2="43750"/>
                        <a14:backgroundMark x1="6032" y1="14732" x2="1746" y2="54018"/>
                        <a14:backgroundMark x1="3016" y1="42411" x2="3333" y2="13393"/>
                        <a14:backgroundMark x1="11587" y1="12054" x2="11587" y2="12054"/>
                        <a14:backgroundMark x1="1746" y1="50893" x2="0" y2="48214"/>
                      </a14:backgroundRemoval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506" y="2343001"/>
            <a:ext cx="6001588" cy="2133898"/>
          </a:xfr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0539" y="-27384"/>
            <a:ext cx="8467725" cy="815791"/>
          </a:xfrm>
        </p:spPr>
        <p:txBody>
          <a:bodyPr/>
          <a:lstStyle/>
          <a:p>
            <a:r>
              <a:rPr lang="en-US" altLang="ko-KR" dirty="0"/>
              <a:t>Roughly draw the resulting frequency </a:t>
            </a:r>
            <a:br>
              <a:rPr lang="en-US" altLang="ko-KR" dirty="0"/>
            </a:br>
            <a:r>
              <a:rPr lang="en-US" altLang="ko-KR" dirty="0"/>
              <a:t>components of AM modulated signal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22964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ORDWRAP" val="0"/>
  <p:tag name="DEFAULTWIDTH" val="483"/>
  <p:tag name="DEFAULTHEIGHT" val="392"/>
  <p:tag name="FONTSIZE" val="10"/>
  <p:tag name="PREAMBLE" val="\documentclass{article}&#10;\pagestyle{empty}&#10;\usepackage{xspace,amssymb,amsfonts,amsmath}&#10;\usepackage{color}&#10;\usepackage{TeX4PPT}&#10;"/>
  <p:tag name="MAGPC" val="200"/>
</p:tagLst>
</file>

<file path=ppt/theme/theme1.xml><?xml version="1.0" encoding="utf-8"?>
<a:theme xmlns:a="http://schemas.openxmlformats.org/drawingml/2006/main" name="LTS4template">
  <a:themeElements>
    <a:clrScheme name="LTS4templa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LTS4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LTS4templa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TS4templa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TS4templa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11236</TotalTime>
  <Words>142</Words>
  <Application>Microsoft Office PowerPoint</Application>
  <PresentationFormat>화면 슬라이드 쇼(4:3)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굴림</vt:lpstr>
      <vt:lpstr>이화체</vt:lpstr>
      <vt:lpstr>Arial</vt:lpstr>
      <vt:lpstr>Cambria Math</vt:lpstr>
      <vt:lpstr>Wingdings</vt:lpstr>
      <vt:lpstr>LTS4template</vt:lpstr>
      <vt:lpstr>AM</vt:lpstr>
      <vt:lpstr>Modulation &amp; Demodulation</vt:lpstr>
      <vt:lpstr>Which can be easily demodulated or not?</vt:lpstr>
      <vt:lpstr>Which can be easily demodulated or not?</vt:lpstr>
      <vt:lpstr>Which can be easily demodulated or not?</vt:lpstr>
      <vt:lpstr>Which can be easily demodulated or not?</vt:lpstr>
      <vt:lpstr>Which can be easily demodulated or not?</vt:lpstr>
      <vt:lpstr>Roughly draw the resulting frequency  components of AM modulated signal</vt:lpstr>
      <vt:lpstr>Roughly draw the resulting frequency  components of AM modulated signal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frossard</dc:creator>
  <cp:lastModifiedBy>Dongho</cp:lastModifiedBy>
  <cp:revision>516</cp:revision>
  <cp:lastPrinted>2012-02-24T14:58:28Z</cp:lastPrinted>
  <dcterms:created xsi:type="dcterms:W3CDTF">2006-08-12T12:19:02Z</dcterms:created>
  <dcterms:modified xsi:type="dcterms:W3CDTF">2016-09-11T14:38:15Z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