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9"/>
  </p:notesMasterIdLst>
  <p:handoutMasterIdLst>
    <p:handoutMasterId r:id="rId10"/>
  </p:handoutMasterIdLst>
  <p:sldIdLst>
    <p:sldId id="317" r:id="rId2"/>
    <p:sldId id="322" r:id="rId3"/>
    <p:sldId id="327" r:id="rId4"/>
    <p:sldId id="323" r:id="rId5"/>
    <p:sldId id="325" r:id="rId6"/>
    <p:sldId id="324" r:id="rId7"/>
    <p:sldId id="328" r:id="rId8"/>
  </p:sldIdLst>
  <p:sldSz cx="9144000" cy="6858000" type="screen4x3"/>
  <p:notesSz cx="7315200" cy="9601200"/>
  <p:custDataLst>
    <p:tags r:id="rId11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00"/>
    <a:srgbClr val="FF0000"/>
    <a:srgbClr val="6699FF"/>
    <a:srgbClr val="000066"/>
    <a:srgbClr val="FF3300"/>
    <a:srgbClr val="0033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09" autoAdjust="0"/>
    <p:restoredTop sz="94775" autoAdjust="0"/>
  </p:normalViewPr>
  <p:slideViewPr>
    <p:cSldViewPr snapToObjects="1">
      <p:cViewPr varScale="1">
        <p:scale>
          <a:sx n="109" d="100"/>
          <a:sy n="109" d="100"/>
        </p:scale>
        <p:origin x="219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5F767509-F31D-4257-8110-ED0F5B2FC2B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3783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66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1ADD2597-761D-4D78-923C-A67F4CCC4C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2895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953977"/>
            <a:ext cx="7772400" cy="835063"/>
          </a:xfrm>
        </p:spPr>
        <p:txBody>
          <a:bodyPr>
            <a:normAutofit/>
          </a:bodyPr>
          <a:lstStyle>
            <a:lvl1pPr algn="ctr">
              <a:defRPr sz="5400" spc="-150">
                <a:solidFill>
                  <a:srgbClr val="006600"/>
                </a:solidFill>
                <a:latin typeface="이화체" pitchFamily="2" charset="-127"/>
                <a:ea typeface="이화체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479" y="393305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이화체" pitchFamily="2" charset="-127"/>
                <a:ea typeface="이화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</a:t>
            </a:r>
            <a:r>
              <a:rPr lang="ko-KR" altLang="en-US" dirty="0"/>
              <a:t>부제목 스타일 편집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23574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2536" y="2711646"/>
            <a:ext cx="31750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2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539" y="20822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336550" y="836613"/>
            <a:ext cx="84455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altLang="en-US" noProof="0" dirty="0"/>
              <a:t>Click to edit Master text styles</a:t>
            </a:r>
          </a:p>
          <a:p>
            <a:pPr lvl="1"/>
            <a:r>
              <a:rPr lang="en-US" altLang="en-US" noProof="0" dirty="0"/>
              <a:t>Second level</a:t>
            </a:r>
            <a:endParaRPr lang="en-US" altLang="ko-KR" noProof="0" dirty="0"/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2"/>
            <a:endParaRPr lang="en-US" altLang="en-US" noProof="0" dirty="0"/>
          </a:p>
          <a:p>
            <a:pPr lvl="2"/>
            <a:endParaRPr lang="en-US" altLang="en-US" noProof="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0" y="-11980"/>
            <a:ext cx="9144000" cy="7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093296"/>
            <a:ext cx="9180512" cy="759906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80000"/>
              </a:schemeClr>
            </a:glow>
            <a:outerShdw dist="35921" dir="2700000" algn="ctr" rotWithShape="0">
              <a:schemeClr val="bg2"/>
            </a:outerShdw>
            <a:softEdge rad="3810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407" y="21358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550" y="836613"/>
            <a:ext cx="8445500" cy="525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2771800" y="6259378"/>
            <a:ext cx="601025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Communications Lab.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(Fall 2016)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Department of Electronics Engineering,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Ewha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Womans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University</a:t>
            </a:r>
            <a:endParaRPr lang="en-US" altLang="ko-KR" sz="1200" b="1" dirty="0">
              <a:solidFill>
                <a:schemeClr val="bg1"/>
              </a:solidFill>
              <a:latin typeface="이화체" pitchFamily="2" charset="-127"/>
              <a:ea typeface="이화체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3" r:id="rId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728" y="3068960"/>
            <a:ext cx="7772400" cy="650777"/>
          </a:xfrm>
        </p:spPr>
        <p:txBody>
          <a:bodyPr anchor="ctr" anchorCtr="0">
            <a:noAutofit/>
          </a:bodyPr>
          <a:lstStyle/>
          <a:p>
            <a:pPr>
              <a:defRPr/>
            </a:pPr>
            <a:r>
              <a:rPr lang="en-US" altLang="ko-KR" sz="4000" dirty="0">
                <a:latin typeface="+mj-lt"/>
              </a:rPr>
              <a:t>FM</a:t>
            </a:r>
            <a:endParaRPr lang="ko-KR" altLang="en-US" sz="4000" dirty="0">
              <a:latin typeface="+mj-lt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36688" y="4077072"/>
            <a:ext cx="6400800" cy="1391866"/>
          </a:xfrm>
        </p:spPr>
        <p:txBody>
          <a:bodyPr/>
          <a:lstStyle/>
          <a:p>
            <a:pPr>
              <a:defRPr/>
            </a:pP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1375003</a:t>
            </a:r>
          </a:p>
          <a:p>
            <a:pPr>
              <a:defRPr/>
            </a:pPr>
            <a:r>
              <a:rPr lang="en-US" altLang="ko-KR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KyungSil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Kim</a:t>
            </a:r>
          </a:p>
          <a:p>
            <a:pPr>
              <a:defRPr/>
            </a:pP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ks_tina@naver.com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7424" y="5373216"/>
            <a:ext cx="5419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Electronics Engineering</a:t>
            </a:r>
          </a:p>
          <a:p>
            <a:pPr algn="ctr">
              <a:defRPr/>
            </a:pP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Ewha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Womans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University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Frequency Modulation (FM)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b="1" dirty="0"/>
          </a:p>
          <a:p>
            <a:r>
              <a:rPr lang="en-US" altLang="ko-KR" b="1" dirty="0"/>
              <a:t>Vary the frequency of the signal to modulate</a:t>
            </a:r>
          </a:p>
          <a:p>
            <a:pPr lvl="1"/>
            <a:r>
              <a:rPr lang="en-US" altLang="ko-KR" sz="2000" dirty="0"/>
              <a:t>Frequency of the signal varies as the voltage of the modulating signal changes.</a:t>
            </a:r>
          </a:p>
          <a:p>
            <a:pPr lvl="1"/>
            <a:r>
              <a:rPr lang="en-US" altLang="ko-KR" sz="2000" dirty="0"/>
              <a:t>The amount by which the signal frequency varies is very important.</a:t>
            </a:r>
          </a:p>
          <a:p>
            <a:pPr marL="344487" lvl="1" indent="0">
              <a:buNone/>
            </a:pPr>
            <a:r>
              <a:rPr lang="en-US" altLang="ko-KR" sz="2000" dirty="0"/>
              <a:t>	(= Deviation)</a:t>
            </a:r>
          </a:p>
          <a:p>
            <a:pPr lvl="1"/>
            <a:endParaRPr lang="en-US" altLang="ko-KR" sz="2000" dirty="0"/>
          </a:p>
          <a:p>
            <a:pPr marL="0" indent="0">
              <a:buNone/>
            </a:pPr>
            <a:endParaRPr lang="en-US" altLang="ko-KR" b="1" dirty="0"/>
          </a:p>
        </p:txBody>
      </p:sp>
      <p:pic>
        <p:nvPicPr>
          <p:cNvPr id="1026" name="Picture 2" descr="frequency modulation에 대한 이미지 검색결과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5" r="12041"/>
          <a:stretch/>
        </p:blipFill>
        <p:spPr bwMode="auto">
          <a:xfrm>
            <a:off x="611560" y="3142016"/>
            <a:ext cx="3581697" cy="2879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quency modulation에 대한 이미지 검색결과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043"/>
          <a:stretch/>
        </p:blipFill>
        <p:spPr bwMode="auto">
          <a:xfrm>
            <a:off x="4412407" y="3241128"/>
            <a:ext cx="4369643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58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Frequency Modulation (FM)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b="1" dirty="0"/>
          </a:p>
          <a:p>
            <a:r>
              <a:rPr lang="en-US" altLang="ko-KR" b="1" dirty="0"/>
              <a:t>Advantages</a:t>
            </a:r>
          </a:p>
          <a:p>
            <a:pPr lvl="1"/>
            <a:r>
              <a:rPr lang="en-US" altLang="ko-KR" sz="2000" dirty="0"/>
              <a:t>Resilient to noise &amp; signal strength variations.</a:t>
            </a:r>
          </a:p>
          <a:p>
            <a:pPr lvl="1"/>
            <a:r>
              <a:rPr lang="en-US" altLang="ko-KR" sz="2000" dirty="0"/>
              <a:t>Does not require linear amplifiers in the transmitter.</a:t>
            </a:r>
          </a:p>
          <a:p>
            <a:pPr lvl="1"/>
            <a:r>
              <a:rPr lang="en-US" altLang="ko-KR" sz="2000" dirty="0"/>
              <a:t>Enables greater efficiency than many other modes.</a:t>
            </a:r>
          </a:p>
          <a:p>
            <a:pPr marL="0" indent="0">
              <a:buNone/>
            </a:pPr>
            <a:endParaRPr lang="en-US" altLang="ko-KR" b="1" dirty="0"/>
          </a:p>
          <a:p>
            <a:r>
              <a:rPr lang="en-US" altLang="ko-KR" b="1" dirty="0"/>
              <a:t>Disadvantages</a:t>
            </a:r>
          </a:p>
          <a:p>
            <a:pPr lvl="1"/>
            <a:r>
              <a:rPr lang="en-US" altLang="ko-KR" sz="2000" dirty="0"/>
              <a:t>Requires more complicated demodulator.</a:t>
            </a:r>
          </a:p>
          <a:p>
            <a:pPr lvl="1"/>
            <a:r>
              <a:rPr lang="en-US" altLang="ko-KR" sz="2000" dirty="0"/>
              <a:t>Some other modes have higher data spectral efficiency.</a:t>
            </a:r>
          </a:p>
          <a:p>
            <a:pPr lvl="1"/>
            <a:r>
              <a:rPr lang="en-US" altLang="ko-KR" sz="2000" dirty="0"/>
              <a:t>Sidebands extend to infinity either side.</a:t>
            </a:r>
          </a:p>
        </p:txBody>
      </p:sp>
    </p:spTree>
    <p:extLst>
      <p:ext uri="{BB962C8B-B14F-4D97-AF65-F5344CB8AC3E}">
        <p14:creationId xmlns:p14="http://schemas.microsoft.com/office/powerpoint/2010/main" val="146474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Original signal is square wave</a:t>
            </a:r>
          </a:p>
          <a:p>
            <a:r>
              <a:rPr lang="en-US" altLang="ko-KR" dirty="0"/>
              <a:t>The transmitter sends different frequencies for a 1 than for 0.</a:t>
            </a:r>
          </a:p>
          <a:p>
            <a:r>
              <a:rPr lang="en-US" altLang="ko-KR" dirty="0"/>
              <a:t>I assumed that signal 1 is modulated to high frequency while 0 is modulated to low frequency.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Original signal and modulated signal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Modulated signal</a:t>
            </a:r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would be the resulting modulated signal?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" t="16016"/>
          <a:stretch/>
        </p:blipFill>
        <p:spPr>
          <a:xfrm>
            <a:off x="755575" y="2348880"/>
            <a:ext cx="6768754" cy="144443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91"/>
          <a:stretch/>
        </p:blipFill>
        <p:spPr>
          <a:xfrm>
            <a:off x="755575" y="4293096"/>
            <a:ext cx="676875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83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60539" y="193775"/>
            <a:ext cx="8467725" cy="642937"/>
          </a:xfrm>
        </p:spPr>
        <p:txBody>
          <a:bodyPr/>
          <a:lstStyle/>
          <a:p>
            <a:r>
              <a:rPr lang="en-US" altLang="ko-KR" dirty="0"/>
              <a:t>How the Quadrature detector works </a:t>
            </a:r>
            <a:br>
              <a:rPr lang="en-US" altLang="ko-KR" dirty="0"/>
            </a:br>
            <a:r>
              <a:rPr lang="en-US" altLang="ko-KR" dirty="0"/>
              <a:t>for FM signal recovery</a:t>
            </a:r>
            <a:endParaRPr lang="ko-KR" altLang="en-US" dirty="0"/>
          </a:p>
        </p:txBody>
      </p:sp>
      <p:pic>
        <p:nvPicPr>
          <p:cNvPr id="5" name="내용 개체 틀 4" descr="Quadrature FM Detector / demodulator circuit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724" y="1557232"/>
            <a:ext cx="6695652" cy="39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9845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539" y="193775"/>
            <a:ext cx="8467725" cy="642937"/>
          </a:xfrm>
        </p:spPr>
        <p:txBody>
          <a:bodyPr/>
          <a:lstStyle/>
          <a:p>
            <a:r>
              <a:rPr lang="en-US" altLang="ko-KR" dirty="0"/>
              <a:t>How the Quadrature detector works </a:t>
            </a:r>
            <a:br>
              <a:rPr lang="en-US" altLang="ko-KR" dirty="0"/>
            </a:br>
            <a:r>
              <a:rPr lang="en-US" altLang="ko-KR" dirty="0"/>
              <a:t>for FM signal recovery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36550" y="836613"/>
            <a:ext cx="8445500" cy="5256683"/>
          </a:xfrm>
        </p:spPr>
        <p:txBody>
          <a:bodyPr/>
          <a:lstStyle/>
          <a:p>
            <a:r>
              <a:rPr lang="en-US" altLang="ko-KR" dirty="0">
                <a:solidFill>
                  <a:srgbClr val="002060"/>
                </a:solidFill>
              </a:rPr>
              <a:t>Quadrature detector splits the signal up into 2 signals </a:t>
            </a:r>
          </a:p>
          <a:p>
            <a:pPr lvl="1"/>
            <a:r>
              <a:rPr lang="en-US" altLang="ko-KR" sz="2000" dirty="0">
                <a:solidFill>
                  <a:srgbClr val="002060"/>
                </a:solidFill>
              </a:rPr>
              <a:t>First signal remains unchanged, applied to the input of a phase detector</a:t>
            </a:r>
          </a:p>
          <a:p>
            <a:pPr lvl="1"/>
            <a:r>
              <a:rPr lang="en-US" altLang="ko-KR" sz="2000" dirty="0">
                <a:solidFill>
                  <a:srgbClr val="002060"/>
                </a:solidFill>
              </a:rPr>
              <a:t>Second signal is passed through a capacitor → capacitor will create a 90° phase shift → phase shifted signal is applied to a frequency dependent phase shifter(a LC tank circuit) </a:t>
            </a:r>
          </a:p>
          <a:p>
            <a:r>
              <a:rPr lang="en-US" altLang="ko-KR" dirty="0">
                <a:solidFill>
                  <a:srgbClr val="0070C0"/>
                </a:solidFill>
              </a:rPr>
              <a:t>If the LC tank circuit’s center frequency equals the signal’s frequency</a:t>
            </a:r>
          </a:p>
          <a:p>
            <a:pPr lvl="1"/>
            <a:r>
              <a:rPr lang="en-US" altLang="ko-KR" sz="2000" dirty="0">
                <a:solidFill>
                  <a:srgbClr val="0070C0"/>
                </a:solidFill>
              </a:rPr>
              <a:t>Imposes a further phase shift of 0° on the signal</a:t>
            </a:r>
          </a:p>
          <a:p>
            <a:pPr lvl="1"/>
            <a:r>
              <a:rPr lang="en-US" altLang="ko-KR" sz="2000" dirty="0">
                <a:solidFill>
                  <a:srgbClr val="0070C0"/>
                </a:solidFill>
              </a:rPr>
              <a:t>Overall phase difference will remain 90°</a:t>
            </a:r>
          </a:p>
          <a:p>
            <a:r>
              <a:rPr lang="en-US" altLang="ko-KR" dirty="0">
                <a:solidFill>
                  <a:srgbClr val="00B050"/>
                </a:solidFill>
              </a:rPr>
              <a:t>If the center frequency is different from the signal’s frequency</a:t>
            </a:r>
          </a:p>
          <a:p>
            <a:pPr lvl="1"/>
            <a:r>
              <a:rPr lang="en-US" altLang="ko-KR" sz="2000" dirty="0">
                <a:solidFill>
                  <a:srgbClr val="00B050"/>
                </a:solidFill>
              </a:rPr>
              <a:t>LC tank will further shift the phase of the signal from the capacitor → the signal’s total phase shift will be the sum of the 90° shift.</a:t>
            </a:r>
          </a:p>
          <a:p>
            <a:pPr lvl="1"/>
            <a:r>
              <a:rPr lang="en-US" altLang="ko-KR" sz="2000" dirty="0">
                <a:solidFill>
                  <a:srgbClr val="00B050"/>
                </a:solidFill>
              </a:rPr>
              <a:t>If the frequency increases the phase shift of the LC circuit decreases.</a:t>
            </a:r>
          </a:p>
          <a:p>
            <a:pPr lvl="1"/>
            <a:r>
              <a:rPr lang="en-US" altLang="ko-KR" sz="2000" dirty="0">
                <a:solidFill>
                  <a:srgbClr val="00B050"/>
                </a:solidFill>
              </a:rPr>
              <a:t>Overall phase difference decreases as the frequency increases.</a:t>
            </a:r>
          </a:p>
        </p:txBody>
      </p:sp>
    </p:spTree>
    <p:extLst>
      <p:ext uri="{BB962C8B-B14F-4D97-AF65-F5344CB8AC3E}">
        <p14:creationId xmlns:p14="http://schemas.microsoft.com/office/powerpoint/2010/main" val="1799159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539" y="193775"/>
            <a:ext cx="8467725" cy="642937"/>
          </a:xfrm>
        </p:spPr>
        <p:txBody>
          <a:bodyPr/>
          <a:lstStyle/>
          <a:p>
            <a:r>
              <a:rPr lang="en-US" altLang="ko-KR" dirty="0"/>
              <a:t>How the Quadrature detector works </a:t>
            </a:r>
            <a:br>
              <a:rPr lang="en-US" altLang="ko-KR" dirty="0"/>
            </a:br>
            <a:r>
              <a:rPr lang="en-US" altLang="ko-KR" dirty="0"/>
              <a:t>for FM signal recovery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If the original signal and the phase shifted signal are applied to the input of a phase detector, the modulation signal can be recovered easily.</a:t>
            </a:r>
          </a:p>
          <a:p>
            <a:endParaRPr lang="en-US" altLang="ko-KR" dirty="0"/>
          </a:p>
          <a:p>
            <a:r>
              <a:rPr lang="en-US" altLang="ko-KR" b="1" dirty="0"/>
              <a:t>Advantages</a:t>
            </a:r>
          </a:p>
          <a:p>
            <a:pPr lvl="1"/>
            <a:r>
              <a:rPr lang="en-US" altLang="ko-KR" sz="2000" dirty="0"/>
              <a:t>Offers good level of performance and includes linearity</a:t>
            </a:r>
          </a:p>
          <a:p>
            <a:pPr lvl="1"/>
            <a:r>
              <a:rPr lang="en-US" altLang="ko-KR" sz="2000" dirty="0"/>
              <a:t>Can be incorporated into an integrated circuit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Disadvantages</a:t>
            </a:r>
          </a:p>
          <a:p>
            <a:pPr lvl="1"/>
            <a:r>
              <a:rPr lang="en-US" altLang="ko-KR" sz="2000" dirty="0"/>
              <a:t>Requires the use of coil</a:t>
            </a:r>
          </a:p>
          <a:p>
            <a:pPr lvl="1"/>
            <a:r>
              <a:rPr lang="en-US" altLang="ko-KR" sz="2000" dirty="0"/>
              <a:t>Some designs may require setting during manufacture</a:t>
            </a:r>
          </a:p>
        </p:txBody>
      </p:sp>
    </p:spTree>
    <p:extLst>
      <p:ext uri="{BB962C8B-B14F-4D97-AF65-F5344CB8AC3E}">
        <p14:creationId xmlns:p14="http://schemas.microsoft.com/office/powerpoint/2010/main" val="7484676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ORDWRAP" val="0"/>
  <p:tag name="DEFAULTWIDTH" val="483"/>
  <p:tag name="DEFAULTHEIGHT" val="392"/>
  <p:tag name="FONTSIZE" val="10"/>
  <p:tag name="PREAMBLE" val="\documentclass{article}&#10;\pagestyle{empty}&#10;\usepackage{xspace,amssymb,amsfonts,amsmath}&#10;\usepackage{color}&#10;\usepackage{TeX4PPT}&#10;"/>
  <p:tag name="MAGPC" val="200"/>
</p:tagLst>
</file>

<file path=ppt/theme/theme1.xml><?xml version="1.0" encoding="utf-8"?>
<a:theme xmlns:a="http://schemas.openxmlformats.org/drawingml/2006/main" name="LTS4template">
  <a:themeElements>
    <a:clrScheme name="LTS4templa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LTS4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TS4templa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S4templa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11582</TotalTime>
  <Words>369</Words>
  <Application>Microsoft Office PowerPoint</Application>
  <PresentationFormat>화면 슬라이드 쇼(4:3)</PresentationFormat>
  <Paragraphs>61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굴림</vt:lpstr>
      <vt:lpstr>이화체</vt:lpstr>
      <vt:lpstr>Arial</vt:lpstr>
      <vt:lpstr>Wingdings</vt:lpstr>
      <vt:lpstr>LTS4template</vt:lpstr>
      <vt:lpstr>FM</vt:lpstr>
      <vt:lpstr>Frequency Modulation (FM)</vt:lpstr>
      <vt:lpstr>Frequency Modulation (FM)</vt:lpstr>
      <vt:lpstr>What would be the resulting modulated signal?</vt:lpstr>
      <vt:lpstr>How the Quadrature detector works  for FM signal recovery</vt:lpstr>
      <vt:lpstr>How the Quadrature detector works  for FM signal recovery</vt:lpstr>
      <vt:lpstr>How the Quadrature detector works  for FM signal recovery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frossard</dc:creator>
  <cp:lastModifiedBy>EwhaEE</cp:lastModifiedBy>
  <cp:revision>532</cp:revision>
  <cp:lastPrinted>2012-02-24T14:58:28Z</cp:lastPrinted>
  <dcterms:created xsi:type="dcterms:W3CDTF">2006-08-12T12:19:02Z</dcterms:created>
  <dcterms:modified xsi:type="dcterms:W3CDTF">2016-09-26T01:19:41Z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