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7"/>
  </p:notesMasterIdLst>
  <p:handoutMasterIdLst>
    <p:handoutMasterId r:id="rId8"/>
  </p:handoutMasterIdLst>
  <p:sldIdLst>
    <p:sldId id="317" r:id="rId2"/>
    <p:sldId id="322" r:id="rId3"/>
    <p:sldId id="323" r:id="rId4"/>
    <p:sldId id="327" r:id="rId5"/>
    <p:sldId id="326" r:id="rId6"/>
  </p:sldIdLst>
  <p:sldSz cx="9144000" cy="6858000" type="screen4x3"/>
  <p:notesSz cx="7315200" cy="9601200"/>
  <p:custDataLst>
    <p:tags r:id="rId9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00"/>
    <a:srgbClr val="FF0000"/>
    <a:srgbClr val="6699FF"/>
    <a:srgbClr val="000066"/>
    <a:srgbClr val="FF3300"/>
    <a:srgbClr val="0033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09" autoAdjust="0"/>
    <p:restoredTop sz="94775" autoAdjust="0"/>
  </p:normalViewPr>
  <p:slideViewPr>
    <p:cSldViewPr snapToObjects="1">
      <p:cViewPr>
        <p:scale>
          <a:sx n="70" d="100"/>
          <a:sy n="70" d="100"/>
        </p:scale>
        <p:origin x="930" y="7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5F767509-F31D-4257-8110-ED0F5B2FC2B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3783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1ADD2597-761D-4D78-923C-A67F4CCC4C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2895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953977"/>
            <a:ext cx="7772400" cy="835063"/>
          </a:xfrm>
        </p:spPr>
        <p:txBody>
          <a:bodyPr>
            <a:normAutofit/>
          </a:bodyPr>
          <a:lstStyle>
            <a:lvl1pPr algn="ctr">
              <a:defRPr sz="5400" spc="-150">
                <a:solidFill>
                  <a:srgbClr val="006600"/>
                </a:solidFill>
                <a:latin typeface="이화체" pitchFamily="2" charset="-127"/>
                <a:ea typeface="이화체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479" y="393305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이화체" pitchFamily="2" charset="-127"/>
                <a:ea typeface="이화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</a:t>
            </a:r>
            <a:r>
              <a:rPr lang="ko-KR" altLang="en-US" dirty="0"/>
              <a:t>부제목 스타일 편집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23574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2536" y="2711646"/>
            <a:ext cx="31750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2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539" y="20822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336550" y="836613"/>
            <a:ext cx="84455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altLang="en-US" noProof="0" dirty="0"/>
              <a:t>Click to edit Master text styles</a:t>
            </a:r>
          </a:p>
          <a:p>
            <a:pPr lvl="1"/>
            <a:r>
              <a:rPr lang="en-US" altLang="en-US" noProof="0" dirty="0"/>
              <a:t>Second level</a:t>
            </a:r>
            <a:endParaRPr lang="en-US" altLang="ko-KR" noProof="0" dirty="0"/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2"/>
            <a:endParaRPr lang="en-US" altLang="en-US" noProof="0" dirty="0"/>
          </a:p>
          <a:p>
            <a:pPr lvl="2"/>
            <a:endParaRPr lang="en-US" altLang="en-US" noProof="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0" y="-11980"/>
            <a:ext cx="9144000" cy="7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093296"/>
            <a:ext cx="9180512" cy="759906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80000"/>
              </a:schemeClr>
            </a:glow>
            <a:outerShdw dist="35921" dir="2700000" algn="ctr" rotWithShape="0">
              <a:schemeClr val="bg2"/>
            </a:outerShdw>
            <a:softEdge rad="38100"/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407" y="21358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550" y="836613"/>
            <a:ext cx="8445500" cy="525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2771800" y="6259378"/>
            <a:ext cx="601025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Communications Lab.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(Fall 2016)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Department of Electronics Engineering,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Ewha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Womans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University</a:t>
            </a:r>
            <a:endParaRPr lang="en-US" altLang="ko-KR" sz="1200" b="1" dirty="0">
              <a:solidFill>
                <a:schemeClr val="bg1"/>
              </a:solidFill>
              <a:latin typeface="이화체" pitchFamily="2" charset="-127"/>
              <a:ea typeface="이화체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3" r:id="rId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728" y="3068960"/>
            <a:ext cx="7772400" cy="650777"/>
          </a:xfrm>
        </p:spPr>
        <p:txBody>
          <a:bodyPr anchor="ctr" anchorCtr="0">
            <a:noAutofit/>
          </a:bodyPr>
          <a:lstStyle/>
          <a:p>
            <a:pPr>
              <a:defRPr/>
            </a:pPr>
            <a:r>
              <a:rPr lang="en-US" altLang="ko-KR" sz="4000" dirty="0">
                <a:latin typeface="+mj-lt"/>
              </a:rPr>
              <a:t>PCM</a:t>
            </a:r>
            <a:endParaRPr lang="ko-KR" altLang="en-US" sz="4000" dirty="0">
              <a:latin typeface="+mj-lt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36688" y="4077072"/>
            <a:ext cx="6400800" cy="1391866"/>
          </a:xfrm>
        </p:spPr>
        <p:txBody>
          <a:bodyPr/>
          <a:lstStyle/>
          <a:p>
            <a:pPr>
              <a:defRPr/>
            </a:pP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1375003</a:t>
            </a:r>
          </a:p>
          <a:p>
            <a:pPr>
              <a:defRPr/>
            </a:pPr>
            <a:r>
              <a:rPr lang="en-US" altLang="ko-KR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KyungSil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Kim</a:t>
            </a:r>
          </a:p>
          <a:p>
            <a:pPr>
              <a:defRPr/>
            </a:pP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ks_tina@naver.com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7424" y="5373216"/>
            <a:ext cx="5419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Electronics Engineering</a:t>
            </a:r>
          </a:p>
          <a:p>
            <a:pPr algn="ctr">
              <a:defRPr/>
            </a:pP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Ewha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Womans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University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1" dirty="0"/>
                  <a:t>Express the following decimal values as 4-bit binary digits </a:t>
                </a:r>
              </a:p>
              <a:p>
                <a:pPr marL="0" indent="0">
                  <a:buNone/>
                </a:pPr>
                <a:r>
                  <a:rPr lang="en-US" altLang="ko-KR" b="1" dirty="0"/>
                  <a:t>	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en-US" altLang="ko-KR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𝟎𝟎𝟎𝟏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b="1" dirty="0"/>
                  <a:t>): 1, 2, 4, 5, 8, 10</a:t>
                </a:r>
              </a:p>
              <a:p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en-US" altLang="ko-KR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𝟎𝟎𝟎𝟏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endParaRPr lang="en-US" altLang="ko-KR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en-US" altLang="ko-KR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𝟎𝟎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endParaRPr lang="en-US" altLang="ko-KR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en-US" altLang="ko-KR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𝟎𝟏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endParaRPr lang="en-US" altLang="ko-KR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en-US" altLang="ko-KR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𝟏𝟎𝟏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endParaRPr lang="en-US" altLang="ko-KR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en-US" altLang="ko-KR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endParaRPr lang="en-US" altLang="ko-KR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en-US" altLang="ko-KR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𝟎𝟏𝟎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ko-KR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9" t="-4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858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539" y="121767"/>
            <a:ext cx="9083461" cy="642937"/>
          </a:xfrm>
        </p:spPr>
        <p:txBody>
          <a:bodyPr/>
          <a:lstStyle/>
          <a:p>
            <a:r>
              <a:rPr lang="en-US" altLang="ko-KR" dirty="0"/>
              <a:t>2. What are the effects of “right bit-shift” and </a:t>
            </a:r>
            <a:r>
              <a:rPr lang="en-US" altLang="ko-KR" dirty="0">
                <a:solidFill>
                  <a:schemeClr val="tx1"/>
                </a:solidFill>
              </a:rPr>
              <a:t>“left bit-shift”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in binary expression?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b="1" dirty="0"/>
              <a:t>Left bit-shift</a:t>
            </a:r>
          </a:p>
          <a:p>
            <a:pPr lvl="1"/>
            <a:r>
              <a:rPr lang="en-US" altLang="ko-KR" dirty="0"/>
              <a:t>Doubles the integer value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Right bit-shift</a:t>
            </a:r>
          </a:p>
          <a:p>
            <a:pPr lvl="1"/>
            <a:r>
              <a:rPr lang="en-US" altLang="ko-KR" dirty="0"/>
              <a:t>Divides the integer value in half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1030" name="Picture 6" descr="left bit shift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517" y="3356992"/>
            <a:ext cx="5033566" cy="248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583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60539" y="-171400"/>
            <a:ext cx="8467725" cy="815791"/>
          </a:xfrm>
        </p:spPr>
        <p:txBody>
          <a:bodyPr/>
          <a:lstStyle/>
          <a:p>
            <a:r>
              <a:rPr lang="en-US" altLang="ko-KR" dirty="0"/>
              <a:t>3. 2-bit PCM</a:t>
            </a:r>
            <a:endParaRPr lang="ko-KR" altLang="en-US" dirty="0"/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29" y="739225"/>
            <a:ext cx="6696744" cy="5420293"/>
          </a:xfrm>
        </p:spPr>
      </p:pic>
      <p:sp>
        <p:nvSpPr>
          <p:cNvPr id="2" name="TextBox 1"/>
          <p:cNvSpPr txBox="1"/>
          <p:nvPr/>
        </p:nvSpPr>
        <p:spPr>
          <a:xfrm>
            <a:off x="611560" y="1141967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11</a:t>
            </a:r>
            <a:endParaRPr lang="ko-KR" altLang="en-US" sz="16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08477" y="2549411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10</a:t>
            </a:r>
            <a:endParaRPr lang="ko-KR" altLang="en-US" sz="16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13312" y="3934514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01</a:t>
            </a:r>
            <a:endParaRPr lang="ko-KR" altLang="en-US" sz="16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13312" y="5266705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00</a:t>
            </a:r>
            <a:endParaRPr lang="ko-KR" altLang="en-US" sz="1600" b="1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1332583" y="1289094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1907704" y="1268760"/>
            <a:ext cx="0" cy="421862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2411760" y="2420888"/>
            <a:ext cx="0" cy="30664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V="1">
            <a:off x="2987824" y="3449371"/>
            <a:ext cx="0" cy="203801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V="1">
            <a:off x="3614192" y="3636983"/>
            <a:ext cx="5591" cy="1850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V="1">
            <a:off x="4211960" y="3645021"/>
            <a:ext cx="0" cy="184236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V="1">
            <a:off x="4788024" y="3933056"/>
            <a:ext cx="0" cy="15462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V="1">
            <a:off x="5436096" y="4653136"/>
            <a:ext cx="0" cy="8342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6012160" y="5210256"/>
            <a:ext cx="0" cy="27713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V="1">
            <a:off x="6588224" y="4941168"/>
            <a:ext cx="0" cy="53817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V="1">
            <a:off x="7164288" y="3212976"/>
            <a:ext cx="0" cy="224103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1332583" y="2701234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1332583" y="4081904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포인트가 5개인 별 46"/>
          <p:cNvSpPr/>
          <p:nvPr/>
        </p:nvSpPr>
        <p:spPr>
          <a:xfrm>
            <a:off x="1709682" y="1109971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포인트가 5개인 별 47"/>
          <p:cNvSpPr/>
          <p:nvPr/>
        </p:nvSpPr>
        <p:spPr>
          <a:xfrm>
            <a:off x="2219297" y="2526425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포인트가 5개인 별 48"/>
          <p:cNvSpPr/>
          <p:nvPr/>
        </p:nvSpPr>
        <p:spPr>
          <a:xfrm>
            <a:off x="2789802" y="3864149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포인트가 5개인 별 49"/>
          <p:cNvSpPr/>
          <p:nvPr/>
        </p:nvSpPr>
        <p:spPr>
          <a:xfrm>
            <a:off x="3413480" y="3882178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포인트가 5개인 별 50"/>
          <p:cNvSpPr/>
          <p:nvPr/>
        </p:nvSpPr>
        <p:spPr>
          <a:xfrm>
            <a:off x="4012703" y="3884523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포인트가 5개인 별 51"/>
          <p:cNvSpPr/>
          <p:nvPr/>
        </p:nvSpPr>
        <p:spPr>
          <a:xfrm>
            <a:off x="4595900" y="3882177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포인트가 5개인 별 52"/>
          <p:cNvSpPr/>
          <p:nvPr/>
        </p:nvSpPr>
        <p:spPr>
          <a:xfrm>
            <a:off x="5238074" y="3877754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포인트가 5개인 별 53"/>
          <p:cNvSpPr/>
          <p:nvPr/>
        </p:nvSpPr>
        <p:spPr>
          <a:xfrm>
            <a:off x="5814138" y="5290756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포인트가 5개인 별 54"/>
          <p:cNvSpPr/>
          <p:nvPr/>
        </p:nvSpPr>
        <p:spPr>
          <a:xfrm>
            <a:off x="6398715" y="5286434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포인트가 5개인 별 55"/>
          <p:cNvSpPr/>
          <p:nvPr/>
        </p:nvSpPr>
        <p:spPr>
          <a:xfrm>
            <a:off x="6986592" y="2538841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3" name="직선 연결선 62"/>
          <p:cNvCxnSpPr/>
          <p:nvPr/>
        </p:nvCxnSpPr>
        <p:spPr>
          <a:xfrm>
            <a:off x="1332583" y="5454011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/>
          <p:cNvGrpSpPr/>
          <p:nvPr/>
        </p:nvGrpSpPr>
        <p:grpSpPr>
          <a:xfrm>
            <a:off x="1907704" y="1268760"/>
            <a:ext cx="5256584" cy="4218626"/>
            <a:chOff x="1907704" y="1268760"/>
            <a:chExt cx="5256584" cy="4218626"/>
          </a:xfrm>
        </p:grpSpPr>
        <p:cxnSp>
          <p:nvCxnSpPr>
            <p:cNvPr id="24" name="직선 연결선 23"/>
            <p:cNvCxnSpPr/>
            <p:nvPr/>
          </p:nvCxnSpPr>
          <p:spPr>
            <a:xfrm>
              <a:off x="1907704" y="1268760"/>
              <a:ext cx="504056" cy="0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>
              <a:off x="2411760" y="2701234"/>
              <a:ext cx="576064" cy="0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2987824" y="4068513"/>
              <a:ext cx="3024336" cy="13391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 flipV="1">
              <a:off x="6010125" y="5454012"/>
              <a:ext cx="1154163" cy="33374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/>
            <p:nvPr/>
          </p:nvCxnSpPr>
          <p:spPr>
            <a:xfrm>
              <a:off x="2411760" y="1268760"/>
              <a:ext cx="0" cy="1432474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>
              <a:off x="2989759" y="2701234"/>
              <a:ext cx="0" cy="1367279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>
              <a:off x="6012160" y="4081904"/>
              <a:ext cx="0" cy="1397441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7164288" y="2701234"/>
              <a:ext cx="0" cy="2734558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921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60539" y="-171400"/>
            <a:ext cx="8467725" cy="815791"/>
          </a:xfrm>
        </p:spPr>
        <p:txBody>
          <a:bodyPr/>
          <a:lstStyle/>
          <a:p>
            <a:r>
              <a:rPr lang="en-US" altLang="ko-KR" dirty="0"/>
              <a:t>3. 3-bit PCM</a:t>
            </a:r>
            <a:endParaRPr lang="ko-KR" altLang="en-US" dirty="0"/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29" y="739225"/>
            <a:ext cx="6696744" cy="5420293"/>
          </a:xfrm>
        </p:spPr>
      </p:pic>
      <p:sp>
        <p:nvSpPr>
          <p:cNvPr id="38" name="TextBox 37"/>
          <p:cNvSpPr txBox="1"/>
          <p:nvPr/>
        </p:nvSpPr>
        <p:spPr>
          <a:xfrm>
            <a:off x="539552" y="5284735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000</a:t>
            </a:r>
            <a:endParaRPr lang="ko-KR" altLang="en-US" sz="16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539552" y="4797152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001</a:t>
            </a:r>
            <a:endParaRPr lang="ko-KR" altLang="en-US" sz="16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539552" y="2852936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100</a:t>
            </a:r>
            <a:endParaRPr lang="ko-KR" altLang="en-US" sz="16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39552" y="3522494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011</a:t>
            </a:r>
            <a:endParaRPr lang="ko-KR" altLang="en-US" sz="16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539552" y="4170566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010</a:t>
            </a:r>
            <a:endParaRPr lang="ko-KR" altLang="en-US" sz="16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539552" y="2204864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101</a:t>
            </a:r>
            <a:endParaRPr lang="ko-KR" altLang="en-US" sz="16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39552" y="1628800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110</a:t>
            </a:r>
            <a:endParaRPr lang="ko-KR" altLang="en-US" sz="16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539552" y="1115320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111</a:t>
            </a:r>
            <a:endParaRPr lang="ko-KR" altLang="en-US" sz="1600" b="1" dirty="0"/>
          </a:p>
        </p:txBody>
      </p:sp>
      <p:cxnSp>
        <p:nvCxnSpPr>
          <p:cNvPr id="46" name="직선 연결선 45"/>
          <p:cNvCxnSpPr/>
          <p:nvPr/>
        </p:nvCxnSpPr>
        <p:spPr>
          <a:xfrm flipV="1">
            <a:off x="1907704" y="1268760"/>
            <a:ext cx="0" cy="421862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2411760" y="2564904"/>
            <a:ext cx="0" cy="292248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V="1">
            <a:off x="2987824" y="3449371"/>
            <a:ext cx="0" cy="203801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V="1">
            <a:off x="3614192" y="3636983"/>
            <a:ext cx="0" cy="18504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 flipV="1">
            <a:off x="4211960" y="3645021"/>
            <a:ext cx="0" cy="184236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 flipV="1">
            <a:off x="4788024" y="3933056"/>
            <a:ext cx="0" cy="15462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V="1">
            <a:off x="5436096" y="4653136"/>
            <a:ext cx="0" cy="8342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flipV="1">
            <a:off x="6012160" y="5113794"/>
            <a:ext cx="0" cy="37359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V="1">
            <a:off x="6588224" y="4941168"/>
            <a:ext cx="0" cy="53817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V="1">
            <a:off x="7164288" y="3035525"/>
            <a:ext cx="0" cy="241848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1314080" y="1284784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1314080" y="2348880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1314080" y="1778845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1305079" y="3009775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1305079" y="4365104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1314080" y="3668708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1314080" y="5454012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포인트가 5개인 별 63"/>
          <p:cNvSpPr/>
          <p:nvPr/>
        </p:nvSpPr>
        <p:spPr>
          <a:xfrm>
            <a:off x="1709241" y="1092748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포인트가 5개인 별 64"/>
          <p:cNvSpPr/>
          <p:nvPr/>
        </p:nvSpPr>
        <p:spPr>
          <a:xfrm>
            <a:off x="2212089" y="2138810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포인트가 5개인 별 65"/>
          <p:cNvSpPr/>
          <p:nvPr/>
        </p:nvSpPr>
        <p:spPr>
          <a:xfrm>
            <a:off x="2789802" y="3469289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포인트가 5개인 별 66"/>
          <p:cNvSpPr/>
          <p:nvPr/>
        </p:nvSpPr>
        <p:spPr>
          <a:xfrm>
            <a:off x="3416170" y="3469288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포인트가 5개인 별 67"/>
          <p:cNvSpPr/>
          <p:nvPr/>
        </p:nvSpPr>
        <p:spPr>
          <a:xfrm>
            <a:off x="4015704" y="3469289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포인트가 5개인 별 68"/>
          <p:cNvSpPr/>
          <p:nvPr/>
        </p:nvSpPr>
        <p:spPr>
          <a:xfrm>
            <a:off x="4608004" y="3469287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포인트가 5개인 별 69"/>
          <p:cNvSpPr/>
          <p:nvPr/>
        </p:nvSpPr>
        <p:spPr>
          <a:xfrm>
            <a:off x="5238074" y="4773827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포인트가 5개인 별 70"/>
          <p:cNvSpPr/>
          <p:nvPr/>
        </p:nvSpPr>
        <p:spPr>
          <a:xfrm>
            <a:off x="5816506" y="4771674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포인트가 5개인 별 71"/>
          <p:cNvSpPr/>
          <p:nvPr/>
        </p:nvSpPr>
        <p:spPr>
          <a:xfrm>
            <a:off x="6384190" y="4771153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포인트가 5개인 별 72"/>
          <p:cNvSpPr/>
          <p:nvPr/>
        </p:nvSpPr>
        <p:spPr>
          <a:xfrm>
            <a:off x="6966707" y="2841548"/>
            <a:ext cx="396044" cy="326511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6" name="직선 연결선 55"/>
          <p:cNvCxnSpPr/>
          <p:nvPr/>
        </p:nvCxnSpPr>
        <p:spPr>
          <a:xfrm>
            <a:off x="1305079" y="4955494"/>
            <a:ext cx="6048671" cy="0"/>
          </a:xfrm>
          <a:prstGeom prst="line">
            <a:avLst/>
          </a:prstGeom>
          <a:ln w="57150">
            <a:solidFill>
              <a:schemeClr val="bg2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907704" y="1268760"/>
            <a:ext cx="5282710" cy="3695091"/>
            <a:chOff x="1907704" y="1268760"/>
            <a:chExt cx="5282710" cy="3695091"/>
          </a:xfrm>
        </p:grpSpPr>
        <p:cxnSp>
          <p:nvCxnSpPr>
            <p:cNvPr id="4" name="직선 연결선 3"/>
            <p:cNvCxnSpPr/>
            <p:nvPr/>
          </p:nvCxnSpPr>
          <p:spPr>
            <a:xfrm>
              <a:off x="1907704" y="1268760"/>
              <a:ext cx="504056" cy="0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2411760" y="2337025"/>
              <a:ext cx="576064" cy="11855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>
              <a:off x="2959581" y="3650937"/>
              <a:ext cx="2472812" cy="17771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>
              <a:off x="5432393" y="4946714"/>
              <a:ext cx="1754318" cy="17137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>
              <a:off x="7164729" y="3090114"/>
              <a:ext cx="25685" cy="1851054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/>
            <p:cNvCxnSpPr/>
            <p:nvPr/>
          </p:nvCxnSpPr>
          <p:spPr>
            <a:xfrm>
              <a:off x="5445235" y="3659822"/>
              <a:ext cx="0" cy="1284545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/>
            <p:cNvCxnSpPr/>
            <p:nvPr/>
          </p:nvCxnSpPr>
          <p:spPr>
            <a:xfrm>
              <a:off x="2987824" y="2337025"/>
              <a:ext cx="0" cy="1331683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>
              <a:off x="2411760" y="1268760"/>
              <a:ext cx="0" cy="1080120"/>
            </a:xfrm>
            <a:prstGeom prst="line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22964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ORDWRAP" val="0"/>
  <p:tag name="DEFAULTWIDTH" val="483"/>
  <p:tag name="DEFAULTHEIGHT" val="392"/>
  <p:tag name="FONTSIZE" val="10"/>
  <p:tag name="PREAMBLE" val="\documentclass{article}&#10;\pagestyle{empty}&#10;\usepackage{xspace,amssymb,amsfonts,amsmath}&#10;\usepackage{color}&#10;\usepackage{TeX4PPT}&#10;"/>
  <p:tag name="MAGPC" val="200"/>
</p:tagLst>
</file>

<file path=ppt/theme/theme1.xml><?xml version="1.0" encoding="utf-8"?>
<a:theme xmlns:a="http://schemas.openxmlformats.org/drawingml/2006/main" name="LTS4template">
  <a:themeElements>
    <a:clrScheme name="LTS4templa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LTS4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TS4templa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S4templa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11383</TotalTime>
  <Words>73</Words>
  <Application>Microsoft Office PowerPoint</Application>
  <PresentationFormat>화면 슬라이드 쇼(4:3)</PresentationFormat>
  <Paragraphs>43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굴림</vt:lpstr>
      <vt:lpstr>이화체</vt:lpstr>
      <vt:lpstr>Arial</vt:lpstr>
      <vt:lpstr>Cambria Math</vt:lpstr>
      <vt:lpstr>Wingdings</vt:lpstr>
      <vt:lpstr>LTS4template</vt:lpstr>
      <vt:lpstr>PCM</vt:lpstr>
      <vt:lpstr>1.</vt:lpstr>
      <vt:lpstr>2. What are the effects of “right bit-shift” and “left bit-shift”  in binary expression? </vt:lpstr>
      <vt:lpstr>3. 2-bit PCM</vt:lpstr>
      <vt:lpstr>3. 3-bit PCM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frossard</dc:creator>
  <cp:lastModifiedBy>EwhaEE</cp:lastModifiedBy>
  <cp:revision>531</cp:revision>
  <cp:lastPrinted>2012-02-24T14:58:28Z</cp:lastPrinted>
  <dcterms:created xsi:type="dcterms:W3CDTF">2006-08-12T12:19:02Z</dcterms:created>
  <dcterms:modified xsi:type="dcterms:W3CDTF">2016-10-12T10:33:42Z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